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04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1" r:id="rId6"/>
    <p:sldId id="275" r:id="rId7"/>
    <p:sldId id="307" r:id="rId8"/>
    <p:sldId id="270" r:id="rId9"/>
    <p:sldId id="272" r:id="rId10"/>
    <p:sldId id="273" r:id="rId11"/>
    <p:sldId id="277" r:id="rId12"/>
    <p:sldId id="276" r:id="rId13"/>
    <p:sldId id="265" r:id="rId14"/>
    <p:sldId id="312" r:id="rId15"/>
    <p:sldId id="284" r:id="rId16"/>
    <p:sldId id="278" r:id="rId17"/>
    <p:sldId id="279" r:id="rId18"/>
    <p:sldId id="316" r:id="rId19"/>
    <p:sldId id="287" r:id="rId20"/>
    <p:sldId id="286" r:id="rId21"/>
    <p:sldId id="313" r:id="rId22"/>
    <p:sldId id="290" r:id="rId23"/>
    <p:sldId id="314" r:id="rId24"/>
    <p:sldId id="315" r:id="rId25"/>
    <p:sldId id="299" r:id="rId26"/>
    <p:sldId id="292" r:id="rId27"/>
    <p:sldId id="266" r:id="rId28"/>
    <p:sldId id="302" r:id="rId29"/>
    <p:sldId id="303" r:id="rId30"/>
    <p:sldId id="304" r:id="rId31"/>
    <p:sldId id="305" r:id="rId32"/>
    <p:sldId id="267" r:id="rId33"/>
    <p:sldId id="288" r:id="rId34"/>
    <p:sldId id="318" r:id="rId35"/>
    <p:sldId id="268" r:id="rId36"/>
    <p:sldId id="280" r:id="rId37"/>
    <p:sldId id="309" r:id="rId38"/>
    <p:sldId id="300" r:id="rId39"/>
    <p:sldId id="311" r:id="rId40"/>
    <p:sldId id="282" r:id="rId41"/>
    <p:sldId id="317" r:id="rId42"/>
    <p:sldId id="308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mien Le Quéré" initials="DLQ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2" autoAdjust="0"/>
    <p:restoredTop sz="94660"/>
  </p:normalViewPr>
  <p:slideViewPr>
    <p:cSldViewPr snapToGrid="0">
      <p:cViewPr>
        <p:scale>
          <a:sx n="50" d="100"/>
          <a:sy n="50" d="100"/>
        </p:scale>
        <p:origin x="-384" y="-6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80"/>
    </p:cViewPr>
  </p:sorterViewPr>
  <p:notesViewPr>
    <p:cSldViewPr snapToGrid="0">
      <p:cViewPr varScale="1">
        <p:scale>
          <a:sx n="84" d="100"/>
          <a:sy n="84" d="100"/>
        </p:scale>
        <p:origin x="199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686B3-7115-4259-A8F6-DCDA84B7062D}" type="datetimeFigureOut">
              <a:rPr lang="fr-FR" smtClean="0"/>
              <a:t>16/06/2015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72410-6AEF-4FFD-B0FC-56D4A8E027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425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72410-6AEF-4FFD-B0FC-56D4A8E027F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750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72410-6AEF-4FFD-B0FC-56D4A8E027F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52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1/ Point de vue des dimensions</a:t>
            </a:r>
          </a:p>
          <a:p>
            <a:r>
              <a:rPr lang="fr-FR" dirty="0" smtClean="0"/>
              <a:t>2/ Point de vue de technologies</a:t>
            </a:r>
          </a:p>
          <a:p>
            <a:r>
              <a:rPr lang="fr-FR" dirty="0" smtClean="0"/>
              <a:t>3/ Point de vue des support physiques</a:t>
            </a:r>
          </a:p>
          <a:p>
            <a:r>
              <a:rPr lang="fr-FR" dirty="0" smtClean="0"/>
              <a:t>4/ Point de vue architectural (opérateur)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72410-6AEF-4FFD-B0FC-56D4A8E027F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914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26700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522296"/>
            <a:ext cx="7543800" cy="1649904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dirty="0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609975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82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/>
          <a:lstStyle/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498" y="6467475"/>
            <a:ext cx="3617103" cy="365125"/>
          </a:xfrm>
        </p:spPr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125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7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62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8753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67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818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6830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4956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70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06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2198" y="645804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10683" y="6456264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611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22960" y="1162050"/>
            <a:ext cx="7543800" cy="1552575"/>
          </a:xfrm>
        </p:spPr>
        <p:txBody>
          <a:bodyPr>
            <a:normAutofit/>
          </a:bodyPr>
          <a:lstStyle/>
          <a:p>
            <a:r>
              <a:rPr lang="fr-FR" altLang="fr-FR" sz="3600" dirty="0" smtClean="0"/>
              <a:t>Conception </a:t>
            </a:r>
            <a:r>
              <a:rPr lang="fr-FR" altLang="fr-FR" sz="3600" dirty="0"/>
              <a:t>et </a:t>
            </a:r>
            <a:r>
              <a:rPr lang="fr-FR" altLang="fr-FR" sz="3600" dirty="0" smtClean="0"/>
              <a:t>étude </a:t>
            </a:r>
            <a:r>
              <a:rPr lang="fr-FR" altLang="fr-FR" sz="3600" dirty="0"/>
              <a:t>des </a:t>
            </a:r>
            <a:r>
              <a:rPr lang="fr-FR" altLang="fr-FR" sz="3600" dirty="0" smtClean="0"/>
              <a:t>performances </a:t>
            </a:r>
            <a:r>
              <a:rPr lang="fr-FR" altLang="fr-FR" sz="3600" dirty="0"/>
              <a:t>d’une </a:t>
            </a:r>
            <a:r>
              <a:rPr lang="fr-FR" altLang="fr-FR" sz="3600" dirty="0" smtClean="0"/>
              <a:t>solution auto-configurable </a:t>
            </a:r>
            <a:r>
              <a:rPr lang="fr-FR" altLang="fr-FR" sz="3600" dirty="0"/>
              <a:t>pour les </a:t>
            </a:r>
            <a:r>
              <a:rPr lang="fr-FR" altLang="fr-FR" sz="3600" dirty="0" smtClean="0"/>
              <a:t>réseaux </a:t>
            </a:r>
            <a:r>
              <a:rPr lang="fr-FR" altLang="fr-FR" sz="3600" dirty="0"/>
              <a:t>de </a:t>
            </a:r>
            <a:r>
              <a:rPr lang="fr-FR" altLang="fr-FR" sz="3600" dirty="0" smtClean="0"/>
              <a:t>transport </a:t>
            </a:r>
            <a:r>
              <a:rPr lang="fr-FR" altLang="fr-FR" sz="3600" dirty="0"/>
              <a:t>du </a:t>
            </a:r>
            <a:r>
              <a:rPr lang="fr-FR" altLang="fr-FR" sz="3600" dirty="0" smtClean="0"/>
              <a:t>futur</a:t>
            </a:r>
            <a:endParaRPr lang="fr-FR" sz="3600" dirty="0"/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825038" y="2922096"/>
            <a:ext cx="7543800" cy="602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fr-FR" sz="1600" dirty="0" smtClean="0"/>
              <a:t>Soutenance de thèse, Par Damien Le Quéré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fr-FR" sz="1600" dirty="0" smtClean="0"/>
              <a:t>le 16 juin 2015, à l’irisa (université Rennes 1)</a:t>
            </a:r>
            <a:endParaRPr lang="fr-FR" sz="1600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647" y="3924302"/>
            <a:ext cx="1823124" cy="60106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21" y="3924301"/>
            <a:ext cx="656259" cy="656259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4486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822959" y="2086366"/>
            <a:ext cx="7543801" cy="3111276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400" dirty="0" smtClean="0"/>
              <a:t>Réseaux de transport et LOCARN</a:t>
            </a:r>
            <a:endParaRPr lang="fr-FR" dirty="0" smtClean="0"/>
          </a:p>
          <a:p>
            <a:pPr marL="457200" indent="-457200">
              <a:buFont typeface="+mj-lt"/>
              <a:buAutoNum type="arabicPeriod"/>
            </a:pPr>
            <a:r>
              <a:rPr lang="fr-FR" sz="2400" dirty="0" smtClean="0"/>
              <a:t>Étude des performances de LOCARN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 smtClean="0"/>
              <a:t>Deux propositions d’améliorations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 smtClean="0"/>
              <a:t>Conclusions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4151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9327" y="5467779"/>
            <a:ext cx="8321041" cy="822960"/>
          </a:xfrm>
        </p:spPr>
        <p:txBody>
          <a:bodyPr/>
          <a:lstStyle/>
          <a:p>
            <a:r>
              <a:rPr lang="fr-FR" dirty="0"/>
              <a:t>Réseaux de transport et </a:t>
            </a:r>
            <a:r>
              <a:rPr lang="fr-FR" dirty="0" smtClean="0"/>
              <a:t>LOCARN</a:t>
            </a:r>
            <a:br>
              <a:rPr lang="fr-FR" dirty="0" smtClean="0"/>
            </a:br>
            <a:r>
              <a:rPr lang="fr-FR" sz="2800" dirty="0" err="1" smtClean="0"/>
              <a:t>Low</a:t>
            </a:r>
            <a:r>
              <a:rPr lang="fr-FR" sz="2800" dirty="0" smtClean="0"/>
              <a:t> </a:t>
            </a:r>
            <a:r>
              <a:rPr lang="fr-FR" sz="2800" dirty="0" err="1" smtClean="0"/>
              <a:t>Opex</a:t>
            </a:r>
            <a:r>
              <a:rPr lang="fr-FR" sz="2800" dirty="0" smtClean="0"/>
              <a:t> and </a:t>
            </a:r>
            <a:r>
              <a:rPr lang="fr-FR" sz="2800" dirty="0" err="1" smtClean="0"/>
              <a:t>Capex</a:t>
            </a:r>
            <a:r>
              <a:rPr lang="fr-FR" sz="2800" dirty="0" smtClean="0"/>
              <a:t> Architecture for </a:t>
            </a:r>
            <a:r>
              <a:rPr lang="fr-FR" sz="2800" dirty="0" err="1" smtClean="0"/>
              <a:t>Resilient</a:t>
            </a:r>
            <a:r>
              <a:rPr lang="fr-FR" sz="2800" dirty="0" smtClean="0"/>
              <a:t> Networks</a:t>
            </a:r>
            <a:endParaRPr lang="fr-FR" sz="2800" dirty="0"/>
          </a:p>
        </p:txBody>
      </p:sp>
      <p:pic>
        <p:nvPicPr>
          <p:cNvPr id="7" name="Espace réservé pour une image 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9" b="3019"/>
          <a:stretch>
            <a:fillRect/>
          </a:stretch>
        </p:blipFill>
        <p:spPr/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7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/>
          <p:cNvSpPr/>
          <p:nvPr/>
        </p:nvSpPr>
        <p:spPr>
          <a:xfrm>
            <a:off x="1578275" y="2812975"/>
            <a:ext cx="2012347" cy="979507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Réseaux de transport ?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1926899" y="2789749"/>
            <a:ext cx="792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LAN</a:t>
            </a:r>
            <a:endParaRPr lang="fr-FR" sz="28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636515" y="3051359"/>
            <a:ext cx="954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MAN</a:t>
            </a:r>
            <a:endParaRPr lang="fr-FR" sz="28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770639" y="3290081"/>
            <a:ext cx="948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WAN</a:t>
            </a:r>
            <a:endParaRPr lang="fr-FR" sz="28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878805" y="2769836"/>
            <a:ext cx="2801584" cy="1081559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5171865" y="2762311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SDH</a:t>
            </a:r>
            <a:endParaRPr lang="fr-FR" sz="28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044379" y="3185852"/>
            <a:ext cx="866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ATM</a:t>
            </a:r>
            <a:endParaRPr lang="fr-FR" sz="28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803242" y="3370336"/>
            <a:ext cx="471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IP</a:t>
            </a:r>
            <a:endParaRPr lang="fr-FR" sz="28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6291734" y="3321143"/>
            <a:ext cx="1242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PBB-TE</a:t>
            </a:r>
            <a:endParaRPr lang="fr-FR" sz="28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6719070" y="2914022"/>
            <a:ext cx="10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MPLS</a:t>
            </a:r>
            <a:endParaRPr lang="fr-FR" sz="28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792571" y="2952084"/>
            <a:ext cx="13794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5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?</a:t>
            </a:r>
            <a:endParaRPr lang="fr-FR" sz="115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935554" y="2760651"/>
            <a:ext cx="834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OTN</a:t>
            </a:r>
            <a:endParaRPr lang="fr-FR" sz="28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1578275" y="4558430"/>
            <a:ext cx="2012347" cy="979507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2184598" y="4540215"/>
            <a:ext cx="648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FO</a:t>
            </a:r>
            <a:endParaRPr lang="fr-FR" sz="32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1861461" y="4915582"/>
            <a:ext cx="607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Hz</a:t>
            </a:r>
            <a:endParaRPr lang="fr-FR" sz="32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2632908" y="4928910"/>
            <a:ext cx="62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Cu</a:t>
            </a:r>
            <a:endParaRPr lang="fr-FR" sz="32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4883963" y="4564474"/>
            <a:ext cx="2758488" cy="1096501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/>
          <p:cNvSpPr txBox="1"/>
          <p:nvPr/>
        </p:nvSpPr>
        <p:spPr>
          <a:xfrm>
            <a:off x="5223859" y="4651297"/>
            <a:ext cx="1374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« Accès »</a:t>
            </a:r>
            <a:endParaRPr lang="fr-FR" sz="24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5576994" y="5074564"/>
            <a:ext cx="1878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ln w="1016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</a:rPr>
              <a:t>« Transport »</a:t>
            </a:r>
            <a:endParaRPr lang="fr-FR" sz="2400" b="1" dirty="0">
              <a:ln w="10160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FFFFFF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859027" y="2360541"/>
            <a:ext cx="1557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Couverture ?</a:t>
            </a:r>
            <a:endParaRPr lang="fr-F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5530889" y="2375092"/>
            <a:ext cx="1630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Technologie </a:t>
            </a:r>
            <a:r>
              <a:rPr lang="fr-F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1663400" y="4163725"/>
            <a:ext cx="2220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Support Physique ?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878819" y="4178276"/>
            <a:ext cx="3092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Point de vue architectural </a:t>
            </a:r>
            <a:r>
              <a:rPr lang="fr-F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889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/>
      <p:bldP spid="7" grpId="0"/>
      <p:bldP spid="8" grpId="0"/>
      <p:bldP spid="11" grpId="0" animBg="1"/>
      <p:bldP spid="12" grpId="0"/>
      <p:bldP spid="14" grpId="0"/>
      <p:bldP spid="15" grpId="0"/>
      <p:bldP spid="16" grpId="0"/>
      <p:bldP spid="17" grpId="0"/>
      <p:bldP spid="13" grpId="0"/>
      <p:bldP spid="20" grpId="0" animBg="1"/>
      <p:bldP spid="22" grpId="0"/>
      <p:bldP spid="23" grpId="0"/>
      <p:bldP spid="24" grpId="0"/>
      <p:bldP spid="27" grpId="0" animBg="1"/>
      <p:bldP spid="29" grpId="0"/>
      <p:bldP spid="31" grpId="0"/>
      <p:bldP spid="9" grpId="0"/>
      <p:bldP spid="26" grpId="0"/>
      <p:bldP spid="28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Critères opérateurs</a:t>
            </a:r>
            <a:endParaRPr lang="fr-FR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551" y="2549524"/>
            <a:ext cx="5135540" cy="2801978"/>
          </a:xfrm>
        </p:spPr>
      </p:pic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  <p:sp>
        <p:nvSpPr>
          <p:cNvPr id="10" name="ZoneTexte 9"/>
          <p:cNvSpPr txBox="1"/>
          <p:nvPr/>
        </p:nvSpPr>
        <p:spPr>
          <a:xfrm>
            <a:off x="1197220" y="5736089"/>
            <a:ext cx="6468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u="sng" dirty="0" smtClean="0"/>
              <a:t>Source</a:t>
            </a:r>
            <a:r>
              <a:rPr lang="fr-FR" sz="1400" dirty="0" smtClean="0"/>
              <a:t> : « MPLS-TP the new </a:t>
            </a:r>
            <a:r>
              <a:rPr lang="fr-FR" sz="1400" dirty="0" err="1" smtClean="0"/>
              <a:t>technology</a:t>
            </a:r>
            <a:r>
              <a:rPr lang="fr-FR" sz="1400" dirty="0" smtClean="0"/>
              <a:t> for </a:t>
            </a:r>
            <a:r>
              <a:rPr lang="fr-FR" sz="1400" dirty="0" err="1" smtClean="0"/>
              <a:t>packet</a:t>
            </a:r>
            <a:r>
              <a:rPr lang="fr-FR" sz="1400" dirty="0" smtClean="0"/>
              <a:t> transport networks », (2009)</a:t>
            </a:r>
            <a:endParaRPr lang="fr-FR" sz="2000" dirty="0"/>
          </a:p>
        </p:txBody>
      </p:sp>
      <p:sp>
        <p:nvSpPr>
          <p:cNvPr id="13" name="Espace réservé du texte 2"/>
          <p:cNvSpPr txBox="1">
            <a:spLocks/>
          </p:cNvSpPr>
          <p:nvPr/>
        </p:nvSpPr>
        <p:spPr>
          <a:xfrm>
            <a:off x="822960" y="1813242"/>
            <a:ext cx="7216723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 smtClean="0"/>
              <a:t>Exigences pour MPLS-TP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70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/>
              <a:t>Quels besoins pour les réseaux de transport du futur ?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Point de vue Performances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136719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Qualité de service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Résilience / Disponibilité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</a:t>
            </a:r>
            <a:r>
              <a:rPr lang="fr-FR" dirty="0" err="1" smtClean="0"/>
              <a:t>Scalabilité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/>
          <a:lstStyle/>
          <a:p>
            <a:r>
              <a:rPr lang="fr-FR" dirty="0" smtClean="0"/>
              <a:t>Point de vue opérationnel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13671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Flexibilité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Simplicité de gestion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Auto-adaptation</a:t>
            </a:r>
            <a:endParaRPr lang="fr-FR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Espace réservé du texte 4"/>
          <p:cNvSpPr txBox="1">
            <a:spLocks/>
          </p:cNvSpPr>
          <p:nvPr/>
        </p:nvSpPr>
        <p:spPr>
          <a:xfrm>
            <a:off x="2500657" y="4141532"/>
            <a:ext cx="3703320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 smtClean="0"/>
              <a:t>Point de vue économique</a:t>
            </a:r>
            <a:endParaRPr lang="fr-FR" dirty="0"/>
          </a:p>
        </p:txBody>
      </p:sp>
      <p:sp>
        <p:nvSpPr>
          <p:cNvPr id="13" name="Espace réservé du contenu 5"/>
          <p:cNvSpPr txBox="1">
            <a:spLocks/>
          </p:cNvSpPr>
          <p:nvPr/>
        </p:nvSpPr>
        <p:spPr>
          <a:xfrm>
            <a:off x="2922198" y="4794506"/>
            <a:ext cx="3703320" cy="13445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Réduire les coûts OPEX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Réduire les coûts CAPEX</a:t>
            </a:r>
          </a:p>
        </p:txBody>
      </p:sp>
    </p:spTree>
    <p:extLst>
      <p:ext uri="{BB962C8B-B14F-4D97-AF65-F5344CB8AC3E}">
        <p14:creationId xmlns:p14="http://schemas.microsoft.com/office/powerpoint/2010/main" val="34321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uiExpand="1" build="p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L’architecture LOCARN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859950" y="2266545"/>
            <a:ext cx="660129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Architecture Réseau </a:t>
            </a:r>
            <a:r>
              <a:rPr lang="fr-FR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Paquet</a:t>
            </a:r>
          </a:p>
          <a:p>
            <a:pPr marL="457200" indent="-457200" algn="ctr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Établit de la connectivité (point-à-point)</a:t>
            </a:r>
          </a:p>
          <a:p>
            <a:pPr marL="457200" indent="-457200" algn="ctr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fr-FR" sz="2800" b="1" u="sng" dirty="0" smtClean="0">
                <a:solidFill>
                  <a:schemeClr val="accent5"/>
                </a:solidFill>
              </a:rPr>
              <a:t>Simplicité</a:t>
            </a:r>
          </a:p>
        </p:txBody>
      </p:sp>
      <p:sp>
        <p:nvSpPr>
          <p:cNvPr id="9" name="Flèche vers le bas 8"/>
          <p:cNvSpPr/>
          <p:nvPr/>
        </p:nvSpPr>
        <p:spPr>
          <a:xfrm rot="2399134">
            <a:off x="3605327" y="3927058"/>
            <a:ext cx="360184" cy="656424"/>
          </a:xfrm>
          <a:prstGeom prst="downArrow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10" name="Flèche vers le bas 9"/>
          <p:cNvSpPr/>
          <p:nvPr/>
        </p:nvSpPr>
        <p:spPr>
          <a:xfrm rot="19062877">
            <a:off x="4924288" y="3930280"/>
            <a:ext cx="360184" cy="656424"/>
          </a:xfrm>
          <a:prstGeom prst="downArrow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76991" y="4544561"/>
            <a:ext cx="3912503" cy="676919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de Fonctionnement</a:t>
            </a:r>
            <a:endParaRPr lang="fr-FR" sz="2400" dirty="0"/>
          </a:p>
        </p:txBody>
      </p:sp>
      <p:sp>
        <p:nvSpPr>
          <p:cNvPr id="15" name="Ellipse 14"/>
          <p:cNvSpPr/>
          <p:nvPr/>
        </p:nvSpPr>
        <p:spPr>
          <a:xfrm>
            <a:off x="4583273" y="4541474"/>
            <a:ext cx="3912503" cy="676919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de Gestion</a:t>
            </a:r>
            <a:endParaRPr lang="fr-FR" sz="2400" dirty="0"/>
          </a:p>
        </p:txBody>
      </p:sp>
      <p:sp>
        <p:nvSpPr>
          <p:cNvPr id="16" name="Flèche vers le bas 15"/>
          <p:cNvSpPr/>
          <p:nvPr/>
        </p:nvSpPr>
        <p:spPr>
          <a:xfrm>
            <a:off x="2087426" y="5218393"/>
            <a:ext cx="822072" cy="318123"/>
          </a:xfrm>
          <a:prstGeom prst="downArrow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17" name="Flèche vers le bas 16"/>
          <p:cNvSpPr/>
          <p:nvPr/>
        </p:nvSpPr>
        <p:spPr>
          <a:xfrm>
            <a:off x="6153888" y="5218393"/>
            <a:ext cx="822072" cy="318123"/>
          </a:xfrm>
          <a:prstGeom prst="downArrow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774092" y="5575892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↘CAPEX</a:t>
            </a:r>
            <a:endParaRPr lang="fr-FR" sz="2400" dirty="0"/>
          </a:p>
        </p:txBody>
      </p:sp>
      <p:sp>
        <p:nvSpPr>
          <p:cNvPr id="19" name="ZoneTexte 18"/>
          <p:cNvSpPr txBox="1"/>
          <p:nvPr/>
        </p:nvSpPr>
        <p:spPr>
          <a:xfrm>
            <a:off x="6000506" y="5561362"/>
            <a:ext cx="1128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↘OPEX</a:t>
            </a:r>
            <a:endParaRPr lang="fr-FR" sz="2400" dirty="0"/>
          </a:p>
        </p:txBody>
      </p:sp>
      <p:sp>
        <p:nvSpPr>
          <p:cNvPr id="14" name="ZoneTexte 13"/>
          <p:cNvSpPr txBox="1"/>
          <p:nvPr/>
        </p:nvSpPr>
        <p:spPr>
          <a:xfrm>
            <a:off x="1287209" y="5913702"/>
            <a:ext cx="2522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(</a:t>
            </a:r>
            <a:r>
              <a:rPr lang="fr-FR" sz="2000" dirty="0" err="1" smtClean="0"/>
              <a:t>CAPital</a:t>
            </a:r>
            <a:r>
              <a:rPr lang="fr-FR" sz="2000" dirty="0" smtClean="0"/>
              <a:t> </a:t>
            </a:r>
            <a:r>
              <a:rPr lang="fr-FR" sz="2000" dirty="0" err="1" smtClean="0"/>
              <a:t>EXPenditures</a:t>
            </a:r>
            <a:r>
              <a:rPr lang="fr-FR" sz="2000" dirty="0" smtClean="0"/>
              <a:t>)</a:t>
            </a:r>
            <a:endParaRPr lang="fr-FR" sz="2000" dirty="0"/>
          </a:p>
        </p:txBody>
      </p:sp>
      <p:sp>
        <p:nvSpPr>
          <p:cNvPr id="20" name="ZoneTexte 19"/>
          <p:cNvSpPr txBox="1"/>
          <p:nvPr/>
        </p:nvSpPr>
        <p:spPr>
          <a:xfrm>
            <a:off x="5353919" y="5913702"/>
            <a:ext cx="3008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(</a:t>
            </a:r>
            <a:r>
              <a:rPr lang="fr-FR" sz="2000" dirty="0" err="1" smtClean="0"/>
              <a:t>OPerational</a:t>
            </a:r>
            <a:r>
              <a:rPr lang="fr-FR" sz="2000" dirty="0" smtClean="0"/>
              <a:t> </a:t>
            </a:r>
            <a:r>
              <a:rPr lang="fr-FR" sz="2000" dirty="0" err="1" smtClean="0"/>
              <a:t>EXPenditures</a:t>
            </a:r>
            <a:r>
              <a:rPr lang="fr-FR" sz="2000" dirty="0" smtClean="0"/>
              <a:t>)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26683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5" grpId="0" animBg="1"/>
      <p:bldP spid="16" grpId="0" animBg="1"/>
      <p:bldP spid="17" grpId="0" animBg="1"/>
      <p:bldP spid="18" grpId="0"/>
      <p:bldP spid="19" grpId="0"/>
      <p:bldP spid="14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400" dirty="0" smtClean="0"/>
              <a:t>Établissement de la connectivité</a:t>
            </a:r>
            <a:br>
              <a:rPr lang="fr-FR" sz="4400" dirty="0" smtClean="0"/>
            </a:br>
            <a:r>
              <a:rPr lang="fr-FR" sz="4400" dirty="0" smtClean="0"/>
              <a:t>sur un exemple</a:t>
            </a:r>
            <a:endParaRPr lang="fr-FR" sz="44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pic>
        <p:nvPicPr>
          <p:cNvPr id="27" name="Image 26" descr="locarn_ste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74" y="1918470"/>
            <a:ext cx="5468938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Image 27" descr="locarn_step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7" y="1918470"/>
            <a:ext cx="5468937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2040412" y="2728095"/>
            <a:ext cx="320675" cy="1809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68924" y="3647257"/>
            <a:ext cx="320675" cy="1793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40412" y="3647257"/>
            <a:ext cx="320675" cy="1793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40412" y="3358332"/>
            <a:ext cx="320675" cy="1809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12024" y="3178945"/>
            <a:ext cx="320675" cy="1793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24762" y="4150495"/>
            <a:ext cx="320675" cy="1809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1687" y="4393382"/>
            <a:ext cx="320675" cy="1793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7124" y="4545782"/>
            <a:ext cx="319088" cy="1793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7012" y="4618807"/>
            <a:ext cx="320675" cy="1793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8999" y="4690245"/>
            <a:ext cx="320675" cy="1809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24762" y="4150495"/>
            <a:ext cx="320675" cy="1809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8499" y="2158182"/>
            <a:ext cx="94932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239224" y="3088457"/>
            <a:ext cx="841375" cy="139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42" name="ZoneTexte 41"/>
          <p:cNvSpPr txBox="1">
            <a:spLocks noChangeArrowheads="1"/>
          </p:cNvSpPr>
          <p:nvPr/>
        </p:nvSpPr>
        <p:spPr bwMode="auto">
          <a:xfrm>
            <a:off x="3138962" y="2120082"/>
            <a:ext cx="6254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err="1">
                <a:solidFill>
                  <a:srgbClr val="002060"/>
                </a:solidFill>
              </a:rPr>
              <a:t>origin</a:t>
            </a:r>
            <a:endParaRPr lang="fr-FR" altLang="fr-FR" sz="1200" dirty="0">
              <a:solidFill>
                <a:srgbClr val="002060"/>
              </a:solidFill>
            </a:endParaRPr>
          </a:p>
        </p:txBody>
      </p:sp>
      <p:sp>
        <p:nvSpPr>
          <p:cNvPr id="43" name="ZoneTexte 42"/>
          <p:cNvSpPr txBox="1">
            <a:spLocks noChangeArrowheads="1"/>
          </p:cNvSpPr>
          <p:nvPr/>
        </p:nvSpPr>
        <p:spPr bwMode="auto">
          <a:xfrm>
            <a:off x="5078887" y="3013845"/>
            <a:ext cx="10017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>
                <a:solidFill>
                  <a:srgbClr val="002060"/>
                </a:solidFill>
              </a:rPr>
              <a:t>destination</a:t>
            </a:r>
          </a:p>
        </p:txBody>
      </p:sp>
      <p:grpSp>
        <p:nvGrpSpPr>
          <p:cNvPr id="44" name="Groupe 37"/>
          <p:cNvGrpSpPr>
            <a:grpSpLocks/>
          </p:cNvGrpSpPr>
          <p:nvPr/>
        </p:nvGrpSpPr>
        <p:grpSpPr bwMode="auto">
          <a:xfrm>
            <a:off x="860899" y="2537595"/>
            <a:ext cx="5219700" cy="3068637"/>
            <a:chOff x="1142266" y="2576269"/>
            <a:chExt cx="5220434" cy="3068881"/>
          </a:xfrm>
        </p:grpSpPr>
        <p:sp>
          <p:nvSpPr>
            <p:cNvPr id="45" name="Forme libre 44"/>
            <p:cNvSpPr/>
            <p:nvPr/>
          </p:nvSpPr>
          <p:spPr>
            <a:xfrm>
              <a:off x="1142266" y="2576269"/>
              <a:ext cx="1066950" cy="1840058"/>
            </a:xfrm>
            <a:custGeom>
              <a:avLst/>
              <a:gdLst>
                <a:gd name="connsiteX0" fmla="*/ 902677 w 1066800"/>
                <a:gd name="connsiteY0" fmla="*/ 0 h 1840523"/>
                <a:gd name="connsiteX1" fmla="*/ 175846 w 1066800"/>
                <a:gd name="connsiteY1" fmla="*/ 339969 h 1840523"/>
                <a:gd name="connsiteX2" fmla="*/ 0 w 1066800"/>
                <a:gd name="connsiteY2" fmla="*/ 1477107 h 1840523"/>
                <a:gd name="connsiteX3" fmla="*/ 105508 w 1066800"/>
                <a:gd name="connsiteY3" fmla="*/ 1840523 h 1840523"/>
                <a:gd name="connsiteX4" fmla="*/ 246185 w 1066800"/>
                <a:gd name="connsiteY4" fmla="*/ 1840523 h 1840523"/>
                <a:gd name="connsiteX5" fmla="*/ 316523 w 1066800"/>
                <a:gd name="connsiteY5" fmla="*/ 973015 h 1840523"/>
                <a:gd name="connsiteX6" fmla="*/ 644770 w 1066800"/>
                <a:gd name="connsiteY6" fmla="*/ 304800 h 1840523"/>
                <a:gd name="connsiteX7" fmla="*/ 1031631 w 1066800"/>
                <a:gd name="connsiteY7" fmla="*/ 152400 h 1840523"/>
                <a:gd name="connsiteX8" fmla="*/ 1066800 w 1066800"/>
                <a:gd name="connsiteY8" fmla="*/ 164123 h 1840523"/>
                <a:gd name="connsiteX9" fmla="*/ 1066800 w 1066800"/>
                <a:gd name="connsiteY9" fmla="*/ 11723 h 1840523"/>
                <a:gd name="connsiteX10" fmla="*/ 902677 w 1066800"/>
                <a:gd name="connsiteY10" fmla="*/ 0 h 1840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800" h="1840523">
                  <a:moveTo>
                    <a:pt x="902677" y="0"/>
                  </a:moveTo>
                  <a:lnTo>
                    <a:pt x="175846" y="339969"/>
                  </a:lnTo>
                  <a:lnTo>
                    <a:pt x="0" y="1477107"/>
                  </a:lnTo>
                  <a:lnTo>
                    <a:pt x="105508" y="1840523"/>
                  </a:lnTo>
                  <a:lnTo>
                    <a:pt x="246185" y="1840523"/>
                  </a:lnTo>
                  <a:lnTo>
                    <a:pt x="316523" y="973015"/>
                  </a:lnTo>
                  <a:lnTo>
                    <a:pt x="644770" y="304800"/>
                  </a:lnTo>
                  <a:lnTo>
                    <a:pt x="1031631" y="152400"/>
                  </a:lnTo>
                  <a:lnTo>
                    <a:pt x="1066800" y="164123"/>
                  </a:lnTo>
                  <a:lnTo>
                    <a:pt x="1066800" y="11723"/>
                  </a:lnTo>
                  <a:lnTo>
                    <a:pt x="90267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46" name="Forme libre 45"/>
            <p:cNvSpPr/>
            <p:nvPr/>
          </p:nvSpPr>
          <p:spPr>
            <a:xfrm>
              <a:off x="2782385" y="2579444"/>
              <a:ext cx="2400638" cy="1014493"/>
            </a:xfrm>
            <a:custGeom>
              <a:avLst/>
              <a:gdLst>
                <a:gd name="connsiteX0" fmla="*/ 0 w 2400300"/>
                <a:gd name="connsiteY0" fmla="*/ 9525 h 1014412"/>
                <a:gd name="connsiteX1" fmla="*/ 0 w 2400300"/>
                <a:gd name="connsiteY1" fmla="*/ 119062 h 1014412"/>
                <a:gd name="connsiteX2" fmla="*/ 1228725 w 2400300"/>
                <a:gd name="connsiteY2" fmla="*/ 152400 h 1014412"/>
                <a:gd name="connsiteX3" fmla="*/ 1814512 w 2400300"/>
                <a:gd name="connsiteY3" fmla="*/ 342900 h 1014412"/>
                <a:gd name="connsiteX4" fmla="*/ 2152650 w 2400300"/>
                <a:gd name="connsiteY4" fmla="*/ 666750 h 1014412"/>
                <a:gd name="connsiteX5" fmla="*/ 2300287 w 2400300"/>
                <a:gd name="connsiteY5" fmla="*/ 1014412 h 1014412"/>
                <a:gd name="connsiteX6" fmla="*/ 2400300 w 2400300"/>
                <a:gd name="connsiteY6" fmla="*/ 1009650 h 1014412"/>
                <a:gd name="connsiteX7" fmla="*/ 2319337 w 2400300"/>
                <a:gd name="connsiteY7" fmla="*/ 595312 h 1014412"/>
                <a:gd name="connsiteX8" fmla="*/ 2043112 w 2400300"/>
                <a:gd name="connsiteY8" fmla="*/ 247650 h 1014412"/>
                <a:gd name="connsiteX9" fmla="*/ 1528762 w 2400300"/>
                <a:gd name="connsiteY9" fmla="*/ 0 h 1014412"/>
                <a:gd name="connsiteX10" fmla="*/ 0 w 2400300"/>
                <a:gd name="connsiteY10" fmla="*/ 9525 h 1014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0300" h="1014412">
                  <a:moveTo>
                    <a:pt x="0" y="9525"/>
                  </a:moveTo>
                  <a:lnTo>
                    <a:pt x="0" y="119062"/>
                  </a:lnTo>
                  <a:lnTo>
                    <a:pt x="1228725" y="152400"/>
                  </a:lnTo>
                  <a:lnTo>
                    <a:pt x="1814512" y="342900"/>
                  </a:lnTo>
                  <a:lnTo>
                    <a:pt x="2152650" y="666750"/>
                  </a:lnTo>
                  <a:lnTo>
                    <a:pt x="2300287" y="1014412"/>
                  </a:lnTo>
                  <a:lnTo>
                    <a:pt x="2400300" y="1009650"/>
                  </a:lnTo>
                  <a:lnTo>
                    <a:pt x="2319337" y="595312"/>
                  </a:lnTo>
                  <a:lnTo>
                    <a:pt x="2043112" y="247650"/>
                  </a:lnTo>
                  <a:lnTo>
                    <a:pt x="1528762" y="0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47" name="Forme libre 46"/>
            <p:cNvSpPr/>
            <p:nvPr/>
          </p:nvSpPr>
          <p:spPr>
            <a:xfrm>
              <a:off x="1383600" y="4013070"/>
              <a:ext cx="4979100" cy="1632080"/>
            </a:xfrm>
            <a:custGeom>
              <a:avLst/>
              <a:gdLst>
                <a:gd name="connsiteX0" fmla="*/ 0 w 4978400"/>
                <a:gd name="connsiteY0" fmla="*/ 831850 h 1631950"/>
                <a:gd name="connsiteX1" fmla="*/ 101600 w 4978400"/>
                <a:gd name="connsiteY1" fmla="*/ 831850 h 1631950"/>
                <a:gd name="connsiteX2" fmla="*/ 488950 w 4978400"/>
                <a:gd name="connsiteY2" fmla="*/ 1136650 h 1631950"/>
                <a:gd name="connsiteX3" fmla="*/ 1073150 w 4978400"/>
                <a:gd name="connsiteY3" fmla="*/ 1308100 h 1631950"/>
                <a:gd name="connsiteX4" fmla="*/ 2432050 w 4978400"/>
                <a:gd name="connsiteY4" fmla="*/ 1327150 h 1631950"/>
                <a:gd name="connsiteX5" fmla="*/ 3086100 w 4978400"/>
                <a:gd name="connsiteY5" fmla="*/ 1219200 h 1631950"/>
                <a:gd name="connsiteX6" fmla="*/ 3524250 w 4978400"/>
                <a:gd name="connsiteY6" fmla="*/ 774700 h 1631950"/>
                <a:gd name="connsiteX7" fmla="*/ 3702050 w 4978400"/>
                <a:gd name="connsiteY7" fmla="*/ 0 h 1631950"/>
                <a:gd name="connsiteX8" fmla="*/ 3816350 w 4978400"/>
                <a:gd name="connsiteY8" fmla="*/ 6350 h 1631950"/>
                <a:gd name="connsiteX9" fmla="*/ 3771900 w 4978400"/>
                <a:gd name="connsiteY9" fmla="*/ 996950 h 1631950"/>
                <a:gd name="connsiteX10" fmla="*/ 4000500 w 4978400"/>
                <a:gd name="connsiteY10" fmla="*/ 1187450 h 1631950"/>
                <a:gd name="connsiteX11" fmla="*/ 4965700 w 4978400"/>
                <a:gd name="connsiteY11" fmla="*/ 1263650 h 1631950"/>
                <a:gd name="connsiteX12" fmla="*/ 4978400 w 4978400"/>
                <a:gd name="connsiteY12" fmla="*/ 1492250 h 1631950"/>
                <a:gd name="connsiteX13" fmla="*/ 4552950 w 4978400"/>
                <a:gd name="connsiteY13" fmla="*/ 1612900 h 1631950"/>
                <a:gd name="connsiteX14" fmla="*/ 3498850 w 4978400"/>
                <a:gd name="connsiteY14" fmla="*/ 1631950 h 1631950"/>
                <a:gd name="connsiteX15" fmla="*/ 3219450 w 4978400"/>
                <a:gd name="connsiteY15" fmla="*/ 1371600 h 1631950"/>
                <a:gd name="connsiteX16" fmla="*/ 2324100 w 4978400"/>
                <a:gd name="connsiteY16" fmla="*/ 1543050 h 1631950"/>
                <a:gd name="connsiteX17" fmla="*/ 2178050 w 4978400"/>
                <a:gd name="connsiteY17" fmla="*/ 1498600 h 1631950"/>
                <a:gd name="connsiteX18" fmla="*/ 838200 w 4978400"/>
                <a:gd name="connsiteY18" fmla="*/ 1466850 h 1631950"/>
                <a:gd name="connsiteX19" fmla="*/ 254000 w 4978400"/>
                <a:gd name="connsiteY19" fmla="*/ 1238250 h 1631950"/>
                <a:gd name="connsiteX20" fmla="*/ 38100 w 4978400"/>
                <a:gd name="connsiteY20" fmla="*/ 1060450 h 1631950"/>
                <a:gd name="connsiteX21" fmla="*/ 0 w 4978400"/>
                <a:gd name="connsiteY21" fmla="*/ 831850 h 163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78400" h="1631950">
                  <a:moveTo>
                    <a:pt x="0" y="831850"/>
                  </a:moveTo>
                  <a:lnTo>
                    <a:pt x="101600" y="831850"/>
                  </a:lnTo>
                  <a:lnTo>
                    <a:pt x="488950" y="1136650"/>
                  </a:lnTo>
                  <a:lnTo>
                    <a:pt x="1073150" y="1308100"/>
                  </a:lnTo>
                  <a:lnTo>
                    <a:pt x="2432050" y="1327150"/>
                  </a:lnTo>
                  <a:lnTo>
                    <a:pt x="3086100" y="1219200"/>
                  </a:lnTo>
                  <a:lnTo>
                    <a:pt x="3524250" y="774700"/>
                  </a:lnTo>
                  <a:lnTo>
                    <a:pt x="3702050" y="0"/>
                  </a:lnTo>
                  <a:lnTo>
                    <a:pt x="3816350" y="6350"/>
                  </a:lnTo>
                  <a:lnTo>
                    <a:pt x="3771900" y="996950"/>
                  </a:lnTo>
                  <a:lnTo>
                    <a:pt x="4000500" y="1187450"/>
                  </a:lnTo>
                  <a:lnTo>
                    <a:pt x="4965700" y="1263650"/>
                  </a:lnTo>
                  <a:lnTo>
                    <a:pt x="4978400" y="1492250"/>
                  </a:lnTo>
                  <a:lnTo>
                    <a:pt x="4552950" y="1612900"/>
                  </a:lnTo>
                  <a:lnTo>
                    <a:pt x="3498850" y="1631950"/>
                  </a:lnTo>
                  <a:lnTo>
                    <a:pt x="3219450" y="1371600"/>
                  </a:lnTo>
                  <a:lnTo>
                    <a:pt x="2324100" y="1543050"/>
                  </a:lnTo>
                  <a:lnTo>
                    <a:pt x="2178050" y="1498600"/>
                  </a:lnTo>
                  <a:lnTo>
                    <a:pt x="838200" y="1466850"/>
                  </a:lnTo>
                  <a:lnTo>
                    <a:pt x="254000" y="1238250"/>
                  </a:lnTo>
                  <a:lnTo>
                    <a:pt x="38100" y="1060450"/>
                  </a:lnTo>
                  <a:lnTo>
                    <a:pt x="0" y="8318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</p:grpSp>
      <p:sp>
        <p:nvSpPr>
          <p:cNvPr id="49" name="Rectangle à coins arrondis 48"/>
          <p:cNvSpPr>
            <a:spLocks noChangeAspect="1"/>
          </p:cNvSpPr>
          <p:nvPr/>
        </p:nvSpPr>
        <p:spPr>
          <a:xfrm>
            <a:off x="5700410" y="5449864"/>
            <a:ext cx="2840476" cy="769937"/>
          </a:xfrm>
          <a:prstGeom prst="roundRect">
            <a:avLst>
              <a:gd name="adj" fmla="val 796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039324" y="5741964"/>
            <a:ext cx="174625" cy="120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51" name="ZoneTexte 45"/>
          <p:cNvSpPr txBox="1">
            <a:spLocks noChangeArrowheads="1"/>
          </p:cNvSpPr>
          <p:nvPr/>
        </p:nvSpPr>
        <p:spPr bwMode="auto">
          <a:xfrm>
            <a:off x="6212362" y="5672114"/>
            <a:ext cx="11493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100"/>
              <a:t>« path request »</a:t>
            </a:r>
          </a:p>
        </p:txBody>
      </p:sp>
      <p:sp>
        <p:nvSpPr>
          <p:cNvPr id="52" name="ZoneTexte 46"/>
          <p:cNvSpPr txBox="1">
            <a:spLocks noChangeArrowheads="1"/>
          </p:cNvSpPr>
          <p:nvPr/>
        </p:nvSpPr>
        <p:spPr bwMode="auto">
          <a:xfrm>
            <a:off x="5798024" y="5449864"/>
            <a:ext cx="15872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b="1" dirty="0" smtClean="0"/>
              <a:t>Plan de commande</a:t>
            </a:r>
            <a:endParaRPr lang="fr-FR" altLang="fr-FR" sz="1200" b="1" dirty="0"/>
          </a:p>
        </p:txBody>
      </p:sp>
      <p:sp>
        <p:nvSpPr>
          <p:cNvPr id="53" name="Rectangle 52"/>
          <p:cNvSpPr/>
          <p:nvPr/>
        </p:nvSpPr>
        <p:spPr>
          <a:xfrm>
            <a:off x="6039324" y="5972151"/>
            <a:ext cx="174625" cy="1206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54" name="ZoneTexte 48"/>
          <p:cNvSpPr txBox="1">
            <a:spLocks noChangeArrowheads="1"/>
          </p:cNvSpPr>
          <p:nvPr/>
        </p:nvSpPr>
        <p:spPr bwMode="auto">
          <a:xfrm>
            <a:off x="6215537" y="5903889"/>
            <a:ext cx="126841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100"/>
              <a:t>« path discovery »</a:t>
            </a:r>
          </a:p>
        </p:txBody>
      </p:sp>
      <p:sp>
        <p:nvSpPr>
          <p:cNvPr id="55" name="ZoneTexte 49"/>
          <p:cNvSpPr txBox="1">
            <a:spLocks noChangeArrowheads="1"/>
          </p:cNvSpPr>
          <p:nvPr/>
        </p:nvSpPr>
        <p:spPr bwMode="auto">
          <a:xfrm>
            <a:off x="7361712" y="5467732"/>
            <a:ext cx="9124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b="1" dirty="0" smtClean="0"/>
              <a:t>Plan OAM</a:t>
            </a:r>
            <a:endParaRPr lang="fr-FR" altLang="fr-FR" sz="1200" b="1" dirty="0"/>
          </a:p>
        </p:txBody>
      </p:sp>
      <p:sp>
        <p:nvSpPr>
          <p:cNvPr id="56" name="Rectangle 55"/>
          <p:cNvSpPr/>
          <p:nvPr/>
        </p:nvSpPr>
        <p:spPr>
          <a:xfrm>
            <a:off x="7604599" y="5751895"/>
            <a:ext cx="173038" cy="1206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57" name="ZoneTexte 51"/>
          <p:cNvSpPr txBox="1">
            <a:spLocks noChangeArrowheads="1"/>
          </p:cNvSpPr>
          <p:nvPr/>
        </p:nvSpPr>
        <p:spPr bwMode="auto">
          <a:xfrm>
            <a:off x="7769699" y="5683632"/>
            <a:ext cx="6604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100"/>
              <a:t>« hello »</a:t>
            </a:r>
          </a:p>
        </p:txBody>
      </p:sp>
      <p:sp>
        <p:nvSpPr>
          <p:cNvPr id="58" name="ZoneTexte 4"/>
          <p:cNvSpPr txBox="1">
            <a:spLocks noChangeArrowheads="1"/>
          </p:cNvSpPr>
          <p:nvPr/>
        </p:nvSpPr>
        <p:spPr bwMode="auto">
          <a:xfrm>
            <a:off x="5804269" y="1910741"/>
            <a:ext cx="2561249" cy="707886"/>
          </a:xfrm>
          <a:prstGeom prst="rect">
            <a:avLst/>
          </a:prstGeom>
          <a:solidFill>
            <a:schemeClr val="tx2">
              <a:alpha val="59000"/>
            </a:schemeClr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fr-FR" altLang="fr-FR" sz="1400" dirty="0" smtClean="0"/>
              <a:t>Étape 1</a:t>
            </a:r>
            <a:r>
              <a:rPr lang="fr-FR" altLang="fr-FR" sz="1400" dirty="0"/>
              <a:t>: </a:t>
            </a:r>
          </a:p>
          <a:p>
            <a:pPr>
              <a:buFont typeface="Arial" charset="0"/>
              <a:buChar char="•"/>
              <a:defRPr/>
            </a:pPr>
            <a:r>
              <a:rPr lang="fr-FR" altLang="fr-FR" sz="1400" dirty="0"/>
              <a:t> </a:t>
            </a:r>
            <a:r>
              <a:rPr lang="fr-FR" altLang="fr-FR" sz="1200" b="1" dirty="0" smtClean="0"/>
              <a:t>Enregistrement des services</a:t>
            </a:r>
            <a:endParaRPr lang="fr-FR" altLang="fr-FR" sz="1200" b="1" dirty="0"/>
          </a:p>
          <a:p>
            <a:pPr>
              <a:buFont typeface="Arial" charset="0"/>
              <a:buChar char="•"/>
              <a:defRPr/>
            </a:pPr>
            <a:r>
              <a:rPr lang="fr-FR" altLang="fr-FR" sz="1200" b="1" dirty="0"/>
              <a:t> </a:t>
            </a:r>
            <a:r>
              <a:rPr lang="fr-FR" altLang="fr-FR" sz="1200" b="1" dirty="0" smtClean="0"/>
              <a:t>Inondation depuis le nœud origine</a:t>
            </a:r>
            <a:endParaRPr lang="fr-FR" altLang="fr-FR" sz="12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487" y="3278345"/>
            <a:ext cx="713925" cy="469629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824" y="2994736"/>
            <a:ext cx="713925" cy="469629"/>
          </a:xfrm>
          <a:prstGeom prst="rect">
            <a:avLst/>
          </a:prstGeom>
        </p:spPr>
      </p:pic>
      <p:pic>
        <p:nvPicPr>
          <p:cNvPr id="59" name="Image 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812" y="4123177"/>
            <a:ext cx="713925" cy="469629"/>
          </a:xfrm>
          <a:prstGeom prst="rect">
            <a:avLst/>
          </a:prstGeom>
        </p:spPr>
      </p:pic>
      <p:pic>
        <p:nvPicPr>
          <p:cNvPr id="60" name="Image 5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4" y="4578371"/>
            <a:ext cx="713925" cy="469629"/>
          </a:xfrm>
          <a:prstGeom prst="rect">
            <a:avLst/>
          </a:prstGeom>
        </p:spPr>
      </p:pic>
      <p:pic>
        <p:nvPicPr>
          <p:cNvPr id="62" name="Image 6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307" y="2402473"/>
            <a:ext cx="750823" cy="493901"/>
          </a:xfrm>
          <a:prstGeom prst="rect">
            <a:avLst/>
          </a:prstGeom>
        </p:spPr>
      </p:pic>
      <p:pic>
        <p:nvPicPr>
          <p:cNvPr id="63" name="Image 6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47" y="4346001"/>
            <a:ext cx="750823" cy="493901"/>
          </a:xfrm>
          <a:prstGeom prst="rect">
            <a:avLst/>
          </a:prstGeom>
        </p:spPr>
      </p:pic>
      <p:pic>
        <p:nvPicPr>
          <p:cNvPr id="64" name="Image 6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610" y="3520779"/>
            <a:ext cx="750823" cy="4939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78592" y="5484427"/>
            <a:ext cx="3066845" cy="3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41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48148E-6 L -0.02187 0.07871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4" y="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33333E-6 L 0.11198 -0.03402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90" y="-1713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22222E-6 L 0.15139 0.0919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69" y="4583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22222E-6 L -0.05694 0.0919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47" y="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1.85185E-6 L -0.07864 0.04606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1" y="2292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0.07431 -0.05509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15" y="-2755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7037E-6 L 0.10833 0.02384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17" y="1181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7.40741E-7 L 0.10851 0.05532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17" y="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99 0.00625 L 0.06285 -0.03287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1968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0.00254 L -0.1132 -0.01875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34" y="-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6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0.0743 -0.05509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15" y="-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 smtClean="0"/>
              <a:t>Établissement de la connectivité</a:t>
            </a:r>
            <a:br>
              <a:rPr lang="fr-FR" sz="4400" dirty="0" smtClean="0"/>
            </a:br>
            <a:r>
              <a:rPr lang="fr-FR" sz="4400" dirty="0" smtClean="0"/>
              <a:t>sur un exemple</a:t>
            </a:r>
            <a:endParaRPr lang="fr-FR" sz="44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  <p:pic>
        <p:nvPicPr>
          <p:cNvPr id="28" name="Image 27" descr="locarn_ste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7" y="1918470"/>
            <a:ext cx="5468937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Image 5" descr="locarn_ste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0" y="1918273"/>
            <a:ext cx="5468937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Rectangle 59"/>
          <p:cNvSpPr/>
          <p:nvPr/>
        </p:nvSpPr>
        <p:spPr>
          <a:xfrm>
            <a:off x="4529605" y="3718498"/>
            <a:ext cx="320675" cy="1793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9605" y="3718498"/>
            <a:ext cx="320675" cy="1793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48492" y="2148460"/>
            <a:ext cx="94932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239217" y="3078735"/>
            <a:ext cx="841375" cy="139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66" name="ZoneTexte 22"/>
          <p:cNvSpPr txBox="1">
            <a:spLocks noChangeArrowheads="1"/>
          </p:cNvSpPr>
          <p:nvPr/>
        </p:nvSpPr>
        <p:spPr bwMode="auto">
          <a:xfrm>
            <a:off x="3138955" y="2110360"/>
            <a:ext cx="6254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err="1">
                <a:solidFill>
                  <a:srgbClr val="002060"/>
                </a:solidFill>
              </a:rPr>
              <a:t>origin</a:t>
            </a:r>
            <a:endParaRPr lang="fr-FR" altLang="fr-FR" sz="1200" dirty="0">
              <a:solidFill>
                <a:srgbClr val="002060"/>
              </a:solidFill>
            </a:endParaRPr>
          </a:p>
        </p:txBody>
      </p:sp>
      <p:sp>
        <p:nvSpPr>
          <p:cNvPr id="67" name="ZoneTexte 24"/>
          <p:cNvSpPr txBox="1">
            <a:spLocks noChangeArrowheads="1"/>
          </p:cNvSpPr>
          <p:nvPr/>
        </p:nvSpPr>
        <p:spPr bwMode="auto">
          <a:xfrm>
            <a:off x="5078880" y="3013851"/>
            <a:ext cx="10017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>
                <a:solidFill>
                  <a:srgbClr val="002060"/>
                </a:solidFill>
              </a:rPr>
              <a:t>destination</a:t>
            </a:r>
          </a:p>
        </p:txBody>
      </p:sp>
      <p:grpSp>
        <p:nvGrpSpPr>
          <p:cNvPr id="68" name="Groupe 60"/>
          <p:cNvGrpSpPr>
            <a:grpSpLocks/>
          </p:cNvGrpSpPr>
          <p:nvPr/>
        </p:nvGrpSpPr>
        <p:grpSpPr bwMode="auto">
          <a:xfrm>
            <a:off x="860892" y="2537398"/>
            <a:ext cx="5219700" cy="3068637"/>
            <a:chOff x="1142266" y="2576269"/>
            <a:chExt cx="5220434" cy="3068881"/>
          </a:xfrm>
        </p:grpSpPr>
        <p:sp>
          <p:nvSpPr>
            <p:cNvPr id="69" name="Forme libre 68"/>
            <p:cNvSpPr/>
            <p:nvPr/>
          </p:nvSpPr>
          <p:spPr>
            <a:xfrm>
              <a:off x="1142266" y="2576269"/>
              <a:ext cx="1066950" cy="1840058"/>
            </a:xfrm>
            <a:custGeom>
              <a:avLst/>
              <a:gdLst>
                <a:gd name="connsiteX0" fmla="*/ 902677 w 1066800"/>
                <a:gd name="connsiteY0" fmla="*/ 0 h 1840523"/>
                <a:gd name="connsiteX1" fmla="*/ 175846 w 1066800"/>
                <a:gd name="connsiteY1" fmla="*/ 339969 h 1840523"/>
                <a:gd name="connsiteX2" fmla="*/ 0 w 1066800"/>
                <a:gd name="connsiteY2" fmla="*/ 1477107 h 1840523"/>
                <a:gd name="connsiteX3" fmla="*/ 105508 w 1066800"/>
                <a:gd name="connsiteY3" fmla="*/ 1840523 h 1840523"/>
                <a:gd name="connsiteX4" fmla="*/ 246185 w 1066800"/>
                <a:gd name="connsiteY4" fmla="*/ 1840523 h 1840523"/>
                <a:gd name="connsiteX5" fmla="*/ 316523 w 1066800"/>
                <a:gd name="connsiteY5" fmla="*/ 973015 h 1840523"/>
                <a:gd name="connsiteX6" fmla="*/ 644770 w 1066800"/>
                <a:gd name="connsiteY6" fmla="*/ 304800 h 1840523"/>
                <a:gd name="connsiteX7" fmla="*/ 1031631 w 1066800"/>
                <a:gd name="connsiteY7" fmla="*/ 152400 h 1840523"/>
                <a:gd name="connsiteX8" fmla="*/ 1066800 w 1066800"/>
                <a:gd name="connsiteY8" fmla="*/ 164123 h 1840523"/>
                <a:gd name="connsiteX9" fmla="*/ 1066800 w 1066800"/>
                <a:gd name="connsiteY9" fmla="*/ 11723 h 1840523"/>
                <a:gd name="connsiteX10" fmla="*/ 902677 w 1066800"/>
                <a:gd name="connsiteY10" fmla="*/ 0 h 1840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800" h="1840523">
                  <a:moveTo>
                    <a:pt x="902677" y="0"/>
                  </a:moveTo>
                  <a:lnTo>
                    <a:pt x="175846" y="339969"/>
                  </a:lnTo>
                  <a:lnTo>
                    <a:pt x="0" y="1477107"/>
                  </a:lnTo>
                  <a:lnTo>
                    <a:pt x="105508" y="1840523"/>
                  </a:lnTo>
                  <a:lnTo>
                    <a:pt x="246185" y="1840523"/>
                  </a:lnTo>
                  <a:lnTo>
                    <a:pt x="316523" y="973015"/>
                  </a:lnTo>
                  <a:lnTo>
                    <a:pt x="644770" y="304800"/>
                  </a:lnTo>
                  <a:lnTo>
                    <a:pt x="1031631" y="152400"/>
                  </a:lnTo>
                  <a:lnTo>
                    <a:pt x="1066800" y="164123"/>
                  </a:lnTo>
                  <a:lnTo>
                    <a:pt x="1066800" y="11723"/>
                  </a:lnTo>
                  <a:lnTo>
                    <a:pt x="90267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0" name="Forme libre 69"/>
            <p:cNvSpPr/>
            <p:nvPr/>
          </p:nvSpPr>
          <p:spPr>
            <a:xfrm>
              <a:off x="2782385" y="2579444"/>
              <a:ext cx="2400638" cy="1014493"/>
            </a:xfrm>
            <a:custGeom>
              <a:avLst/>
              <a:gdLst>
                <a:gd name="connsiteX0" fmla="*/ 0 w 2400300"/>
                <a:gd name="connsiteY0" fmla="*/ 9525 h 1014412"/>
                <a:gd name="connsiteX1" fmla="*/ 0 w 2400300"/>
                <a:gd name="connsiteY1" fmla="*/ 119062 h 1014412"/>
                <a:gd name="connsiteX2" fmla="*/ 1228725 w 2400300"/>
                <a:gd name="connsiteY2" fmla="*/ 152400 h 1014412"/>
                <a:gd name="connsiteX3" fmla="*/ 1814512 w 2400300"/>
                <a:gd name="connsiteY3" fmla="*/ 342900 h 1014412"/>
                <a:gd name="connsiteX4" fmla="*/ 2152650 w 2400300"/>
                <a:gd name="connsiteY4" fmla="*/ 666750 h 1014412"/>
                <a:gd name="connsiteX5" fmla="*/ 2300287 w 2400300"/>
                <a:gd name="connsiteY5" fmla="*/ 1014412 h 1014412"/>
                <a:gd name="connsiteX6" fmla="*/ 2400300 w 2400300"/>
                <a:gd name="connsiteY6" fmla="*/ 1009650 h 1014412"/>
                <a:gd name="connsiteX7" fmla="*/ 2319337 w 2400300"/>
                <a:gd name="connsiteY7" fmla="*/ 595312 h 1014412"/>
                <a:gd name="connsiteX8" fmla="*/ 2043112 w 2400300"/>
                <a:gd name="connsiteY8" fmla="*/ 247650 h 1014412"/>
                <a:gd name="connsiteX9" fmla="*/ 1528762 w 2400300"/>
                <a:gd name="connsiteY9" fmla="*/ 0 h 1014412"/>
                <a:gd name="connsiteX10" fmla="*/ 0 w 2400300"/>
                <a:gd name="connsiteY10" fmla="*/ 9525 h 1014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0300" h="1014412">
                  <a:moveTo>
                    <a:pt x="0" y="9525"/>
                  </a:moveTo>
                  <a:lnTo>
                    <a:pt x="0" y="119062"/>
                  </a:lnTo>
                  <a:lnTo>
                    <a:pt x="1228725" y="152400"/>
                  </a:lnTo>
                  <a:lnTo>
                    <a:pt x="1814512" y="342900"/>
                  </a:lnTo>
                  <a:lnTo>
                    <a:pt x="2152650" y="666750"/>
                  </a:lnTo>
                  <a:lnTo>
                    <a:pt x="2300287" y="1014412"/>
                  </a:lnTo>
                  <a:lnTo>
                    <a:pt x="2400300" y="1009650"/>
                  </a:lnTo>
                  <a:lnTo>
                    <a:pt x="2319337" y="595312"/>
                  </a:lnTo>
                  <a:lnTo>
                    <a:pt x="2043112" y="247650"/>
                  </a:lnTo>
                  <a:lnTo>
                    <a:pt x="1528762" y="0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1" name="Forme libre 70"/>
            <p:cNvSpPr/>
            <p:nvPr/>
          </p:nvSpPr>
          <p:spPr>
            <a:xfrm>
              <a:off x="1383600" y="4013070"/>
              <a:ext cx="4979100" cy="1632080"/>
            </a:xfrm>
            <a:custGeom>
              <a:avLst/>
              <a:gdLst>
                <a:gd name="connsiteX0" fmla="*/ 0 w 4978400"/>
                <a:gd name="connsiteY0" fmla="*/ 831850 h 1631950"/>
                <a:gd name="connsiteX1" fmla="*/ 101600 w 4978400"/>
                <a:gd name="connsiteY1" fmla="*/ 831850 h 1631950"/>
                <a:gd name="connsiteX2" fmla="*/ 488950 w 4978400"/>
                <a:gd name="connsiteY2" fmla="*/ 1136650 h 1631950"/>
                <a:gd name="connsiteX3" fmla="*/ 1073150 w 4978400"/>
                <a:gd name="connsiteY3" fmla="*/ 1308100 h 1631950"/>
                <a:gd name="connsiteX4" fmla="*/ 2432050 w 4978400"/>
                <a:gd name="connsiteY4" fmla="*/ 1327150 h 1631950"/>
                <a:gd name="connsiteX5" fmla="*/ 3086100 w 4978400"/>
                <a:gd name="connsiteY5" fmla="*/ 1219200 h 1631950"/>
                <a:gd name="connsiteX6" fmla="*/ 3524250 w 4978400"/>
                <a:gd name="connsiteY6" fmla="*/ 774700 h 1631950"/>
                <a:gd name="connsiteX7" fmla="*/ 3702050 w 4978400"/>
                <a:gd name="connsiteY7" fmla="*/ 0 h 1631950"/>
                <a:gd name="connsiteX8" fmla="*/ 3816350 w 4978400"/>
                <a:gd name="connsiteY8" fmla="*/ 6350 h 1631950"/>
                <a:gd name="connsiteX9" fmla="*/ 3771900 w 4978400"/>
                <a:gd name="connsiteY9" fmla="*/ 996950 h 1631950"/>
                <a:gd name="connsiteX10" fmla="*/ 4000500 w 4978400"/>
                <a:gd name="connsiteY10" fmla="*/ 1187450 h 1631950"/>
                <a:gd name="connsiteX11" fmla="*/ 4965700 w 4978400"/>
                <a:gd name="connsiteY11" fmla="*/ 1263650 h 1631950"/>
                <a:gd name="connsiteX12" fmla="*/ 4978400 w 4978400"/>
                <a:gd name="connsiteY12" fmla="*/ 1492250 h 1631950"/>
                <a:gd name="connsiteX13" fmla="*/ 4552950 w 4978400"/>
                <a:gd name="connsiteY13" fmla="*/ 1612900 h 1631950"/>
                <a:gd name="connsiteX14" fmla="*/ 3498850 w 4978400"/>
                <a:gd name="connsiteY14" fmla="*/ 1631950 h 1631950"/>
                <a:gd name="connsiteX15" fmla="*/ 3219450 w 4978400"/>
                <a:gd name="connsiteY15" fmla="*/ 1371600 h 1631950"/>
                <a:gd name="connsiteX16" fmla="*/ 2324100 w 4978400"/>
                <a:gd name="connsiteY16" fmla="*/ 1543050 h 1631950"/>
                <a:gd name="connsiteX17" fmla="*/ 2178050 w 4978400"/>
                <a:gd name="connsiteY17" fmla="*/ 1498600 h 1631950"/>
                <a:gd name="connsiteX18" fmla="*/ 838200 w 4978400"/>
                <a:gd name="connsiteY18" fmla="*/ 1466850 h 1631950"/>
                <a:gd name="connsiteX19" fmla="*/ 254000 w 4978400"/>
                <a:gd name="connsiteY19" fmla="*/ 1238250 h 1631950"/>
                <a:gd name="connsiteX20" fmla="*/ 38100 w 4978400"/>
                <a:gd name="connsiteY20" fmla="*/ 1060450 h 1631950"/>
                <a:gd name="connsiteX21" fmla="*/ 0 w 4978400"/>
                <a:gd name="connsiteY21" fmla="*/ 831850 h 163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78400" h="1631950">
                  <a:moveTo>
                    <a:pt x="0" y="831850"/>
                  </a:moveTo>
                  <a:lnTo>
                    <a:pt x="101600" y="831850"/>
                  </a:lnTo>
                  <a:lnTo>
                    <a:pt x="488950" y="1136650"/>
                  </a:lnTo>
                  <a:lnTo>
                    <a:pt x="1073150" y="1308100"/>
                  </a:lnTo>
                  <a:lnTo>
                    <a:pt x="2432050" y="1327150"/>
                  </a:lnTo>
                  <a:lnTo>
                    <a:pt x="3086100" y="1219200"/>
                  </a:lnTo>
                  <a:lnTo>
                    <a:pt x="3524250" y="774700"/>
                  </a:lnTo>
                  <a:lnTo>
                    <a:pt x="3702050" y="0"/>
                  </a:lnTo>
                  <a:lnTo>
                    <a:pt x="3816350" y="6350"/>
                  </a:lnTo>
                  <a:lnTo>
                    <a:pt x="3771900" y="996950"/>
                  </a:lnTo>
                  <a:lnTo>
                    <a:pt x="4000500" y="1187450"/>
                  </a:lnTo>
                  <a:lnTo>
                    <a:pt x="4965700" y="1263650"/>
                  </a:lnTo>
                  <a:lnTo>
                    <a:pt x="4978400" y="1492250"/>
                  </a:lnTo>
                  <a:lnTo>
                    <a:pt x="4552950" y="1612900"/>
                  </a:lnTo>
                  <a:lnTo>
                    <a:pt x="3498850" y="1631950"/>
                  </a:lnTo>
                  <a:lnTo>
                    <a:pt x="3219450" y="1371600"/>
                  </a:lnTo>
                  <a:lnTo>
                    <a:pt x="2324100" y="1543050"/>
                  </a:lnTo>
                  <a:lnTo>
                    <a:pt x="2178050" y="1498600"/>
                  </a:lnTo>
                  <a:lnTo>
                    <a:pt x="838200" y="1466850"/>
                  </a:lnTo>
                  <a:lnTo>
                    <a:pt x="254000" y="1238250"/>
                  </a:lnTo>
                  <a:lnTo>
                    <a:pt x="38100" y="1060450"/>
                  </a:lnTo>
                  <a:lnTo>
                    <a:pt x="0" y="8318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</p:grpSp>
      <p:sp>
        <p:nvSpPr>
          <p:cNvPr id="72" name="Rectangle 71"/>
          <p:cNvSpPr/>
          <p:nvPr/>
        </p:nvSpPr>
        <p:spPr>
          <a:xfrm>
            <a:off x="4689942" y="3539110"/>
            <a:ext cx="320675" cy="1793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0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74" name="ZoneTexte 4"/>
          <p:cNvSpPr txBox="1">
            <a:spLocks noChangeArrowheads="1"/>
          </p:cNvSpPr>
          <p:nvPr/>
        </p:nvSpPr>
        <p:spPr bwMode="auto">
          <a:xfrm>
            <a:off x="4238580" y="1912245"/>
            <a:ext cx="4115713" cy="707886"/>
          </a:xfrm>
          <a:prstGeom prst="rect">
            <a:avLst/>
          </a:prstGeom>
          <a:solidFill>
            <a:schemeClr val="tx2">
              <a:alpha val="59000"/>
            </a:schemeClr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fr-FR" altLang="fr-FR" sz="1400" dirty="0" smtClean="0"/>
              <a:t>Étape 2: </a:t>
            </a:r>
            <a:endParaRPr lang="fr-FR" altLang="fr-FR" sz="1400" dirty="0"/>
          </a:p>
          <a:p>
            <a:pPr>
              <a:buFont typeface="Arial" charset="0"/>
              <a:buChar char="•"/>
              <a:defRPr/>
            </a:pPr>
            <a:r>
              <a:rPr lang="fr-FR" altLang="fr-FR" sz="1400" dirty="0"/>
              <a:t> </a:t>
            </a:r>
            <a:r>
              <a:rPr lang="fr-FR" altLang="fr-FR" sz="1200" b="1" dirty="0" smtClean="0"/>
              <a:t>La destination répond pour chaque paquet (chaque chemin)</a:t>
            </a:r>
            <a:endParaRPr lang="fr-FR" altLang="fr-FR" sz="1200" b="1" dirty="0"/>
          </a:p>
          <a:p>
            <a:pPr>
              <a:buFont typeface="Arial" charset="0"/>
              <a:buChar char="•"/>
              <a:defRPr/>
            </a:pPr>
            <a:r>
              <a:rPr lang="fr-FR" altLang="fr-FR" sz="1200" b="1" dirty="0" smtClean="0"/>
              <a:t> L’origine compare chaque chemin reçu au chemin courant</a:t>
            </a:r>
            <a:endParaRPr lang="fr-FR" altLang="fr-FR" sz="1200" b="1" dirty="0"/>
          </a:p>
        </p:txBody>
      </p:sp>
      <p:sp>
        <p:nvSpPr>
          <p:cNvPr id="75" name="Rectangle à coins arrondis 74"/>
          <p:cNvSpPr>
            <a:spLocks noChangeAspect="1"/>
          </p:cNvSpPr>
          <p:nvPr/>
        </p:nvSpPr>
        <p:spPr>
          <a:xfrm>
            <a:off x="5700410" y="5449864"/>
            <a:ext cx="2840476" cy="769937"/>
          </a:xfrm>
          <a:prstGeom prst="roundRect">
            <a:avLst>
              <a:gd name="adj" fmla="val 796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039324" y="5741964"/>
            <a:ext cx="174625" cy="120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77" name="ZoneTexte 45"/>
          <p:cNvSpPr txBox="1">
            <a:spLocks noChangeArrowheads="1"/>
          </p:cNvSpPr>
          <p:nvPr/>
        </p:nvSpPr>
        <p:spPr bwMode="auto">
          <a:xfrm>
            <a:off x="6212362" y="5672114"/>
            <a:ext cx="11493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100"/>
              <a:t>« path request »</a:t>
            </a:r>
          </a:p>
        </p:txBody>
      </p:sp>
      <p:sp>
        <p:nvSpPr>
          <p:cNvPr id="78" name="ZoneTexte 46"/>
          <p:cNvSpPr txBox="1">
            <a:spLocks noChangeArrowheads="1"/>
          </p:cNvSpPr>
          <p:nvPr/>
        </p:nvSpPr>
        <p:spPr bwMode="auto">
          <a:xfrm>
            <a:off x="5798024" y="5449864"/>
            <a:ext cx="15872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b="1" dirty="0" smtClean="0"/>
              <a:t>Plan de commande</a:t>
            </a:r>
            <a:endParaRPr lang="fr-FR" altLang="fr-FR" sz="1200" b="1" dirty="0"/>
          </a:p>
        </p:txBody>
      </p:sp>
      <p:sp>
        <p:nvSpPr>
          <p:cNvPr id="79" name="Rectangle 78"/>
          <p:cNvSpPr/>
          <p:nvPr/>
        </p:nvSpPr>
        <p:spPr>
          <a:xfrm>
            <a:off x="6039324" y="5972151"/>
            <a:ext cx="174625" cy="1206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80" name="ZoneTexte 48"/>
          <p:cNvSpPr txBox="1">
            <a:spLocks noChangeArrowheads="1"/>
          </p:cNvSpPr>
          <p:nvPr/>
        </p:nvSpPr>
        <p:spPr bwMode="auto">
          <a:xfrm>
            <a:off x="6215537" y="5903889"/>
            <a:ext cx="126841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100"/>
              <a:t>« path discovery »</a:t>
            </a:r>
          </a:p>
        </p:txBody>
      </p:sp>
      <p:sp>
        <p:nvSpPr>
          <p:cNvPr id="81" name="ZoneTexte 49"/>
          <p:cNvSpPr txBox="1">
            <a:spLocks noChangeArrowheads="1"/>
          </p:cNvSpPr>
          <p:nvPr/>
        </p:nvSpPr>
        <p:spPr bwMode="auto">
          <a:xfrm>
            <a:off x="7361712" y="5467732"/>
            <a:ext cx="9124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b="1" dirty="0" smtClean="0"/>
              <a:t>Plan OAM</a:t>
            </a:r>
            <a:endParaRPr lang="fr-FR" altLang="fr-FR" sz="1200" b="1" dirty="0"/>
          </a:p>
        </p:txBody>
      </p:sp>
      <p:sp>
        <p:nvSpPr>
          <p:cNvPr id="82" name="Rectangle 81"/>
          <p:cNvSpPr/>
          <p:nvPr/>
        </p:nvSpPr>
        <p:spPr>
          <a:xfrm>
            <a:off x="7604599" y="5751895"/>
            <a:ext cx="173038" cy="1206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83" name="ZoneTexte 51"/>
          <p:cNvSpPr txBox="1">
            <a:spLocks noChangeArrowheads="1"/>
          </p:cNvSpPr>
          <p:nvPr/>
        </p:nvSpPr>
        <p:spPr bwMode="auto">
          <a:xfrm>
            <a:off x="7769699" y="5683632"/>
            <a:ext cx="6604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100"/>
              <a:t>« hello »</a:t>
            </a:r>
          </a:p>
        </p:txBody>
      </p:sp>
      <p:sp>
        <p:nvSpPr>
          <p:cNvPr id="62" name="Flèche courbée vers le bas 61"/>
          <p:cNvSpPr/>
          <p:nvPr/>
        </p:nvSpPr>
        <p:spPr>
          <a:xfrm rot="16200000">
            <a:off x="1232467" y="2321332"/>
            <a:ext cx="720725" cy="627063"/>
          </a:xfrm>
          <a:prstGeom prst="curvedDown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/>
          </a:p>
        </p:txBody>
      </p:sp>
      <p:sp>
        <p:nvSpPr>
          <p:cNvPr id="63" name="ZoneTexte 62"/>
          <p:cNvSpPr txBox="1">
            <a:spLocks noChangeArrowheads="1"/>
          </p:cNvSpPr>
          <p:nvPr/>
        </p:nvSpPr>
        <p:spPr bwMode="auto">
          <a:xfrm>
            <a:off x="475859" y="2886363"/>
            <a:ext cx="14029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600" dirty="0" smtClean="0"/>
              <a:t>Comparaison</a:t>
            </a:r>
            <a:br>
              <a:rPr lang="fr-FR" altLang="fr-FR" sz="1600" dirty="0" smtClean="0"/>
            </a:br>
            <a:r>
              <a:rPr lang="fr-FR" altLang="fr-FR" sz="1600" dirty="0" smtClean="0"/>
              <a:t>et sélection</a:t>
            </a:r>
            <a:endParaRPr lang="fr-FR" altLang="fr-FR" sz="1600" dirty="0"/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487" y="3278345"/>
            <a:ext cx="713925" cy="469629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824" y="2994736"/>
            <a:ext cx="713925" cy="469629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812" y="4123177"/>
            <a:ext cx="713925" cy="469629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4" y="4578371"/>
            <a:ext cx="713925" cy="469629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307" y="2402473"/>
            <a:ext cx="750823" cy="493901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47" y="4346001"/>
            <a:ext cx="750823" cy="493901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610" y="3520779"/>
            <a:ext cx="750823" cy="493901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078592" y="5484427"/>
            <a:ext cx="3066845" cy="3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00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333 4.81481E-6 L -0.14166 -0.06297 L -0.31319 -0.01297 L -0.24861 -0.18612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93" y="-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59259E-6 L -0.10972 0.06389 L -0.31181 -0.06111 L -0.24236 -0.24444 " pathEditMode="relative" rAng="0" ptsTypes="AAAA">
                                      <p:cBhvr>
                                        <p:cTn id="35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90" y="-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000"/>
                            </p:stCondLst>
                            <p:childTnLst>
                              <p:par>
                                <p:cTn id="48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59259E-6 L -0.08542 0.06297 L -0.20764 0.12963 L -0.36875 0.10185 L -0.27917 -0.05278 L -0.21875 -0.24074 " pathEditMode="relative" rAng="0" ptsTypes="AAAAAA">
                                      <p:cBhvr>
                                        <p:cTn id="53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38" y="-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000"/>
                            </p:stCondLst>
                            <p:childTnLst>
                              <p:par>
                                <p:cTn id="5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0"/>
                            </p:stCondLst>
                            <p:childTnLst>
                              <p:par>
                                <p:cTn id="58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72" grpId="0" animBg="1"/>
      <p:bldP spid="72" grpId="1" animBg="1"/>
      <p:bldP spid="72" grpId="2" animBg="1"/>
      <p:bldP spid="62" grpId="0" animBg="1"/>
      <p:bldP spid="62" grpId="1" animBg="1"/>
      <p:bldP spid="62" grpId="2" animBg="1"/>
      <p:bldP spid="62" grpId="3" animBg="1"/>
      <p:bldP spid="62" grpId="4" animBg="1"/>
      <p:bldP spid="63" grpId="0"/>
      <p:bldP spid="63" grpId="1"/>
      <p:bldP spid="63" grpId="2"/>
      <p:bldP spid="63" grpId="3"/>
      <p:bldP spid="63" grpId="4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 smtClean="0"/>
              <a:t>Établissement de la connectivité</a:t>
            </a:r>
            <a:br>
              <a:rPr lang="fr-FR" sz="4400" dirty="0" smtClean="0"/>
            </a:br>
            <a:r>
              <a:rPr lang="fr-FR" sz="4400" dirty="0" smtClean="0"/>
              <a:t>sur un exemple</a:t>
            </a:r>
            <a:endParaRPr lang="fr-FR" sz="44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  <p:pic>
        <p:nvPicPr>
          <p:cNvPr id="28" name="Image 27" descr="locarn_ste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7" y="1918470"/>
            <a:ext cx="5468937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Image 5" descr="locarn_step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3" y="1918275"/>
            <a:ext cx="5468937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2097558" y="2710437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altLang="fr-FR" sz="80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8495" y="2148462"/>
            <a:ext cx="94932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239220" y="3078737"/>
            <a:ext cx="841375" cy="139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20" name="ZoneTexte 19"/>
          <p:cNvSpPr txBox="1">
            <a:spLocks noChangeArrowheads="1"/>
          </p:cNvSpPr>
          <p:nvPr/>
        </p:nvSpPr>
        <p:spPr bwMode="auto">
          <a:xfrm>
            <a:off x="3138958" y="2110362"/>
            <a:ext cx="6254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err="1">
                <a:solidFill>
                  <a:srgbClr val="002060"/>
                </a:solidFill>
              </a:rPr>
              <a:t>origin</a:t>
            </a:r>
            <a:endParaRPr lang="fr-FR" altLang="fr-FR" sz="1200" dirty="0">
              <a:solidFill>
                <a:srgbClr val="002060"/>
              </a:solidFill>
            </a:endParaRPr>
          </a:p>
        </p:txBody>
      </p:sp>
      <p:sp>
        <p:nvSpPr>
          <p:cNvPr id="21" name="ZoneTexte 20"/>
          <p:cNvSpPr txBox="1">
            <a:spLocks noChangeArrowheads="1"/>
          </p:cNvSpPr>
          <p:nvPr/>
        </p:nvSpPr>
        <p:spPr bwMode="auto">
          <a:xfrm>
            <a:off x="5078883" y="3013853"/>
            <a:ext cx="10017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>
                <a:solidFill>
                  <a:srgbClr val="002060"/>
                </a:solidFill>
              </a:rPr>
              <a:t>destination</a:t>
            </a:r>
          </a:p>
        </p:txBody>
      </p:sp>
      <p:sp>
        <p:nvSpPr>
          <p:cNvPr id="31" name="ZoneTexte 4"/>
          <p:cNvSpPr txBox="1">
            <a:spLocks noChangeArrowheads="1"/>
          </p:cNvSpPr>
          <p:nvPr/>
        </p:nvSpPr>
        <p:spPr bwMode="auto">
          <a:xfrm>
            <a:off x="6212362" y="1923957"/>
            <a:ext cx="2166200" cy="707886"/>
          </a:xfrm>
          <a:prstGeom prst="rect">
            <a:avLst/>
          </a:prstGeom>
          <a:solidFill>
            <a:schemeClr val="tx2">
              <a:alpha val="59000"/>
            </a:schemeClr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fr-FR" altLang="fr-FR" sz="1400" dirty="0" smtClean="0"/>
              <a:t>Étape </a:t>
            </a:r>
            <a:r>
              <a:rPr lang="fr-FR" altLang="fr-FR" sz="1400" dirty="0"/>
              <a:t>3: </a:t>
            </a:r>
          </a:p>
          <a:p>
            <a:pPr>
              <a:buFont typeface="Arial" charset="0"/>
              <a:buChar char="•"/>
              <a:defRPr/>
            </a:pPr>
            <a:r>
              <a:rPr lang="fr-FR" altLang="fr-FR" sz="1400" dirty="0"/>
              <a:t> </a:t>
            </a:r>
            <a:r>
              <a:rPr lang="fr-FR" altLang="fr-FR" sz="1200" b="1" dirty="0" smtClean="0"/>
              <a:t>Connectivité établie</a:t>
            </a:r>
            <a:endParaRPr lang="fr-FR" altLang="fr-FR" sz="1200" b="1" dirty="0"/>
          </a:p>
          <a:p>
            <a:pPr>
              <a:buFont typeface="Arial" charset="0"/>
              <a:buChar char="•"/>
              <a:defRPr/>
            </a:pPr>
            <a:r>
              <a:rPr lang="fr-FR" altLang="fr-FR" sz="1200" b="1" dirty="0"/>
              <a:t> </a:t>
            </a:r>
            <a:r>
              <a:rPr lang="fr-FR" altLang="fr-FR" sz="1200" b="1" dirty="0" smtClean="0"/>
              <a:t>Vérification et maintenance</a:t>
            </a:r>
            <a:endParaRPr lang="fr-FR" altLang="fr-FR" sz="1200" b="1" dirty="0"/>
          </a:p>
        </p:txBody>
      </p:sp>
      <p:grpSp>
        <p:nvGrpSpPr>
          <p:cNvPr id="32" name="Groupe 34"/>
          <p:cNvGrpSpPr>
            <a:grpSpLocks/>
          </p:cNvGrpSpPr>
          <p:nvPr/>
        </p:nvGrpSpPr>
        <p:grpSpPr bwMode="auto">
          <a:xfrm>
            <a:off x="860895" y="2537400"/>
            <a:ext cx="5219700" cy="3068637"/>
            <a:chOff x="1142266" y="2576269"/>
            <a:chExt cx="5220434" cy="3068881"/>
          </a:xfrm>
        </p:grpSpPr>
        <p:sp>
          <p:nvSpPr>
            <p:cNvPr id="33" name="Forme libre 32"/>
            <p:cNvSpPr/>
            <p:nvPr/>
          </p:nvSpPr>
          <p:spPr>
            <a:xfrm>
              <a:off x="1142266" y="2576269"/>
              <a:ext cx="1066950" cy="1840058"/>
            </a:xfrm>
            <a:custGeom>
              <a:avLst/>
              <a:gdLst>
                <a:gd name="connsiteX0" fmla="*/ 902677 w 1066800"/>
                <a:gd name="connsiteY0" fmla="*/ 0 h 1840523"/>
                <a:gd name="connsiteX1" fmla="*/ 175846 w 1066800"/>
                <a:gd name="connsiteY1" fmla="*/ 339969 h 1840523"/>
                <a:gd name="connsiteX2" fmla="*/ 0 w 1066800"/>
                <a:gd name="connsiteY2" fmla="*/ 1477107 h 1840523"/>
                <a:gd name="connsiteX3" fmla="*/ 105508 w 1066800"/>
                <a:gd name="connsiteY3" fmla="*/ 1840523 h 1840523"/>
                <a:gd name="connsiteX4" fmla="*/ 246185 w 1066800"/>
                <a:gd name="connsiteY4" fmla="*/ 1840523 h 1840523"/>
                <a:gd name="connsiteX5" fmla="*/ 316523 w 1066800"/>
                <a:gd name="connsiteY5" fmla="*/ 973015 h 1840523"/>
                <a:gd name="connsiteX6" fmla="*/ 644770 w 1066800"/>
                <a:gd name="connsiteY6" fmla="*/ 304800 h 1840523"/>
                <a:gd name="connsiteX7" fmla="*/ 1031631 w 1066800"/>
                <a:gd name="connsiteY7" fmla="*/ 152400 h 1840523"/>
                <a:gd name="connsiteX8" fmla="*/ 1066800 w 1066800"/>
                <a:gd name="connsiteY8" fmla="*/ 164123 h 1840523"/>
                <a:gd name="connsiteX9" fmla="*/ 1066800 w 1066800"/>
                <a:gd name="connsiteY9" fmla="*/ 11723 h 1840523"/>
                <a:gd name="connsiteX10" fmla="*/ 902677 w 1066800"/>
                <a:gd name="connsiteY10" fmla="*/ 0 h 1840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800" h="1840523">
                  <a:moveTo>
                    <a:pt x="902677" y="0"/>
                  </a:moveTo>
                  <a:lnTo>
                    <a:pt x="175846" y="339969"/>
                  </a:lnTo>
                  <a:lnTo>
                    <a:pt x="0" y="1477107"/>
                  </a:lnTo>
                  <a:lnTo>
                    <a:pt x="105508" y="1840523"/>
                  </a:lnTo>
                  <a:lnTo>
                    <a:pt x="246185" y="1840523"/>
                  </a:lnTo>
                  <a:lnTo>
                    <a:pt x="316523" y="973015"/>
                  </a:lnTo>
                  <a:lnTo>
                    <a:pt x="644770" y="304800"/>
                  </a:lnTo>
                  <a:lnTo>
                    <a:pt x="1031631" y="152400"/>
                  </a:lnTo>
                  <a:lnTo>
                    <a:pt x="1066800" y="164123"/>
                  </a:lnTo>
                  <a:lnTo>
                    <a:pt x="1066800" y="11723"/>
                  </a:lnTo>
                  <a:lnTo>
                    <a:pt x="90267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34" name="Forme libre 33"/>
            <p:cNvSpPr/>
            <p:nvPr/>
          </p:nvSpPr>
          <p:spPr>
            <a:xfrm>
              <a:off x="2782385" y="2579444"/>
              <a:ext cx="2400638" cy="1014493"/>
            </a:xfrm>
            <a:custGeom>
              <a:avLst/>
              <a:gdLst>
                <a:gd name="connsiteX0" fmla="*/ 0 w 2400300"/>
                <a:gd name="connsiteY0" fmla="*/ 9525 h 1014412"/>
                <a:gd name="connsiteX1" fmla="*/ 0 w 2400300"/>
                <a:gd name="connsiteY1" fmla="*/ 119062 h 1014412"/>
                <a:gd name="connsiteX2" fmla="*/ 1228725 w 2400300"/>
                <a:gd name="connsiteY2" fmla="*/ 152400 h 1014412"/>
                <a:gd name="connsiteX3" fmla="*/ 1814512 w 2400300"/>
                <a:gd name="connsiteY3" fmla="*/ 342900 h 1014412"/>
                <a:gd name="connsiteX4" fmla="*/ 2152650 w 2400300"/>
                <a:gd name="connsiteY4" fmla="*/ 666750 h 1014412"/>
                <a:gd name="connsiteX5" fmla="*/ 2300287 w 2400300"/>
                <a:gd name="connsiteY5" fmla="*/ 1014412 h 1014412"/>
                <a:gd name="connsiteX6" fmla="*/ 2400300 w 2400300"/>
                <a:gd name="connsiteY6" fmla="*/ 1009650 h 1014412"/>
                <a:gd name="connsiteX7" fmla="*/ 2319337 w 2400300"/>
                <a:gd name="connsiteY7" fmla="*/ 595312 h 1014412"/>
                <a:gd name="connsiteX8" fmla="*/ 2043112 w 2400300"/>
                <a:gd name="connsiteY8" fmla="*/ 247650 h 1014412"/>
                <a:gd name="connsiteX9" fmla="*/ 1528762 w 2400300"/>
                <a:gd name="connsiteY9" fmla="*/ 0 h 1014412"/>
                <a:gd name="connsiteX10" fmla="*/ 0 w 2400300"/>
                <a:gd name="connsiteY10" fmla="*/ 9525 h 1014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0300" h="1014412">
                  <a:moveTo>
                    <a:pt x="0" y="9525"/>
                  </a:moveTo>
                  <a:lnTo>
                    <a:pt x="0" y="119062"/>
                  </a:lnTo>
                  <a:lnTo>
                    <a:pt x="1228725" y="152400"/>
                  </a:lnTo>
                  <a:lnTo>
                    <a:pt x="1814512" y="342900"/>
                  </a:lnTo>
                  <a:lnTo>
                    <a:pt x="2152650" y="666750"/>
                  </a:lnTo>
                  <a:lnTo>
                    <a:pt x="2300287" y="1014412"/>
                  </a:lnTo>
                  <a:lnTo>
                    <a:pt x="2400300" y="1009650"/>
                  </a:lnTo>
                  <a:lnTo>
                    <a:pt x="2319337" y="595312"/>
                  </a:lnTo>
                  <a:lnTo>
                    <a:pt x="2043112" y="247650"/>
                  </a:lnTo>
                  <a:lnTo>
                    <a:pt x="1528762" y="0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35" name="Forme libre 34"/>
            <p:cNvSpPr/>
            <p:nvPr/>
          </p:nvSpPr>
          <p:spPr>
            <a:xfrm>
              <a:off x="1383600" y="4013070"/>
              <a:ext cx="4979100" cy="1632080"/>
            </a:xfrm>
            <a:custGeom>
              <a:avLst/>
              <a:gdLst>
                <a:gd name="connsiteX0" fmla="*/ 0 w 4978400"/>
                <a:gd name="connsiteY0" fmla="*/ 831850 h 1631950"/>
                <a:gd name="connsiteX1" fmla="*/ 101600 w 4978400"/>
                <a:gd name="connsiteY1" fmla="*/ 831850 h 1631950"/>
                <a:gd name="connsiteX2" fmla="*/ 488950 w 4978400"/>
                <a:gd name="connsiteY2" fmla="*/ 1136650 h 1631950"/>
                <a:gd name="connsiteX3" fmla="*/ 1073150 w 4978400"/>
                <a:gd name="connsiteY3" fmla="*/ 1308100 h 1631950"/>
                <a:gd name="connsiteX4" fmla="*/ 2432050 w 4978400"/>
                <a:gd name="connsiteY4" fmla="*/ 1327150 h 1631950"/>
                <a:gd name="connsiteX5" fmla="*/ 3086100 w 4978400"/>
                <a:gd name="connsiteY5" fmla="*/ 1219200 h 1631950"/>
                <a:gd name="connsiteX6" fmla="*/ 3524250 w 4978400"/>
                <a:gd name="connsiteY6" fmla="*/ 774700 h 1631950"/>
                <a:gd name="connsiteX7" fmla="*/ 3702050 w 4978400"/>
                <a:gd name="connsiteY7" fmla="*/ 0 h 1631950"/>
                <a:gd name="connsiteX8" fmla="*/ 3816350 w 4978400"/>
                <a:gd name="connsiteY8" fmla="*/ 6350 h 1631950"/>
                <a:gd name="connsiteX9" fmla="*/ 3771900 w 4978400"/>
                <a:gd name="connsiteY9" fmla="*/ 996950 h 1631950"/>
                <a:gd name="connsiteX10" fmla="*/ 4000500 w 4978400"/>
                <a:gd name="connsiteY10" fmla="*/ 1187450 h 1631950"/>
                <a:gd name="connsiteX11" fmla="*/ 4965700 w 4978400"/>
                <a:gd name="connsiteY11" fmla="*/ 1263650 h 1631950"/>
                <a:gd name="connsiteX12" fmla="*/ 4978400 w 4978400"/>
                <a:gd name="connsiteY12" fmla="*/ 1492250 h 1631950"/>
                <a:gd name="connsiteX13" fmla="*/ 4552950 w 4978400"/>
                <a:gd name="connsiteY13" fmla="*/ 1612900 h 1631950"/>
                <a:gd name="connsiteX14" fmla="*/ 3498850 w 4978400"/>
                <a:gd name="connsiteY14" fmla="*/ 1631950 h 1631950"/>
                <a:gd name="connsiteX15" fmla="*/ 3219450 w 4978400"/>
                <a:gd name="connsiteY15" fmla="*/ 1371600 h 1631950"/>
                <a:gd name="connsiteX16" fmla="*/ 2324100 w 4978400"/>
                <a:gd name="connsiteY16" fmla="*/ 1543050 h 1631950"/>
                <a:gd name="connsiteX17" fmla="*/ 2178050 w 4978400"/>
                <a:gd name="connsiteY17" fmla="*/ 1498600 h 1631950"/>
                <a:gd name="connsiteX18" fmla="*/ 838200 w 4978400"/>
                <a:gd name="connsiteY18" fmla="*/ 1466850 h 1631950"/>
                <a:gd name="connsiteX19" fmla="*/ 254000 w 4978400"/>
                <a:gd name="connsiteY19" fmla="*/ 1238250 h 1631950"/>
                <a:gd name="connsiteX20" fmla="*/ 38100 w 4978400"/>
                <a:gd name="connsiteY20" fmla="*/ 1060450 h 1631950"/>
                <a:gd name="connsiteX21" fmla="*/ 0 w 4978400"/>
                <a:gd name="connsiteY21" fmla="*/ 831850 h 163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78400" h="1631950">
                  <a:moveTo>
                    <a:pt x="0" y="831850"/>
                  </a:moveTo>
                  <a:lnTo>
                    <a:pt x="101600" y="831850"/>
                  </a:lnTo>
                  <a:lnTo>
                    <a:pt x="488950" y="1136650"/>
                  </a:lnTo>
                  <a:lnTo>
                    <a:pt x="1073150" y="1308100"/>
                  </a:lnTo>
                  <a:lnTo>
                    <a:pt x="2432050" y="1327150"/>
                  </a:lnTo>
                  <a:lnTo>
                    <a:pt x="3086100" y="1219200"/>
                  </a:lnTo>
                  <a:lnTo>
                    <a:pt x="3524250" y="774700"/>
                  </a:lnTo>
                  <a:lnTo>
                    <a:pt x="3702050" y="0"/>
                  </a:lnTo>
                  <a:lnTo>
                    <a:pt x="3816350" y="6350"/>
                  </a:lnTo>
                  <a:lnTo>
                    <a:pt x="3771900" y="996950"/>
                  </a:lnTo>
                  <a:lnTo>
                    <a:pt x="4000500" y="1187450"/>
                  </a:lnTo>
                  <a:lnTo>
                    <a:pt x="4965700" y="1263650"/>
                  </a:lnTo>
                  <a:lnTo>
                    <a:pt x="4978400" y="1492250"/>
                  </a:lnTo>
                  <a:lnTo>
                    <a:pt x="4552950" y="1612900"/>
                  </a:lnTo>
                  <a:lnTo>
                    <a:pt x="3498850" y="1631950"/>
                  </a:lnTo>
                  <a:lnTo>
                    <a:pt x="3219450" y="1371600"/>
                  </a:lnTo>
                  <a:lnTo>
                    <a:pt x="2324100" y="1543050"/>
                  </a:lnTo>
                  <a:lnTo>
                    <a:pt x="2178050" y="1498600"/>
                  </a:lnTo>
                  <a:lnTo>
                    <a:pt x="838200" y="1466850"/>
                  </a:lnTo>
                  <a:lnTo>
                    <a:pt x="254000" y="1238250"/>
                  </a:lnTo>
                  <a:lnTo>
                    <a:pt x="38100" y="1060450"/>
                  </a:lnTo>
                  <a:lnTo>
                    <a:pt x="0" y="8318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</p:grpSp>
      <p:sp>
        <p:nvSpPr>
          <p:cNvPr id="46" name="Rectangle à coins arrondis 45"/>
          <p:cNvSpPr>
            <a:spLocks noChangeAspect="1"/>
          </p:cNvSpPr>
          <p:nvPr/>
        </p:nvSpPr>
        <p:spPr>
          <a:xfrm>
            <a:off x="5700410" y="5449864"/>
            <a:ext cx="2840476" cy="769937"/>
          </a:xfrm>
          <a:prstGeom prst="roundRect">
            <a:avLst>
              <a:gd name="adj" fmla="val 796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39324" y="5741964"/>
            <a:ext cx="174625" cy="120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58" name="ZoneTexte 45"/>
          <p:cNvSpPr txBox="1">
            <a:spLocks noChangeArrowheads="1"/>
          </p:cNvSpPr>
          <p:nvPr/>
        </p:nvSpPr>
        <p:spPr bwMode="auto">
          <a:xfrm>
            <a:off x="6212362" y="5672114"/>
            <a:ext cx="11493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100"/>
              <a:t>« path request »</a:t>
            </a:r>
          </a:p>
        </p:txBody>
      </p:sp>
      <p:sp>
        <p:nvSpPr>
          <p:cNvPr id="59" name="ZoneTexte 46"/>
          <p:cNvSpPr txBox="1">
            <a:spLocks noChangeArrowheads="1"/>
          </p:cNvSpPr>
          <p:nvPr/>
        </p:nvSpPr>
        <p:spPr bwMode="auto">
          <a:xfrm>
            <a:off x="5798024" y="5449864"/>
            <a:ext cx="15872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b="1" dirty="0" smtClean="0"/>
              <a:t>Plan de commande</a:t>
            </a:r>
            <a:endParaRPr lang="fr-FR" altLang="fr-FR" sz="1200" b="1" dirty="0"/>
          </a:p>
        </p:txBody>
      </p:sp>
      <p:sp>
        <p:nvSpPr>
          <p:cNvPr id="60" name="Rectangle 59"/>
          <p:cNvSpPr/>
          <p:nvPr/>
        </p:nvSpPr>
        <p:spPr>
          <a:xfrm>
            <a:off x="6039324" y="5972151"/>
            <a:ext cx="174625" cy="1206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61" name="ZoneTexte 48"/>
          <p:cNvSpPr txBox="1">
            <a:spLocks noChangeArrowheads="1"/>
          </p:cNvSpPr>
          <p:nvPr/>
        </p:nvSpPr>
        <p:spPr bwMode="auto">
          <a:xfrm>
            <a:off x="6215537" y="5903889"/>
            <a:ext cx="126841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100"/>
              <a:t>« path discovery »</a:t>
            </a:r>
          </a:p>
        </p:txBody>
      </p:sp>
      <p:sp>
        <p:nvSpPr>
          <p:cNvPr id="62" name="ZoneTexte 49"/>
          <p:cNvSpPr txBox="1">
            <a:spLocks noChangeArrowheads="1"/>
          </p:cNvSpPr>
          <p:nvPr/>
        </p:nvSpPr>
        <p:spPr bwMode="auto">
          <a:xfrm>
            <a:off x="7361712" y="5467732"/>
            <a:ext cx="9124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b="1" dirty="0" smtClean="0"/>
              <a:t>Plan OAM</a:t>
            </a:r>
            <a:endParaRPr lang="fr-FR" altLang="fr-FR" sz="1200" b="1" dirty="0"/>
          </a:p>
        </p:txBody>
      </p:sp>
      <p:sp>
        <p:nvSpPr>
          <p:cNvPr id="63" name="Rectangle 62"/>
          <p:cNvSpPr/>
          <p:nvPr/>
        </p:nvSpPr>
        <p:spPr>
          <a:xfrm>
            <a:off x="7604599" y="5751895"/>
            <a:ext cx="173038" cy="1206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64" name="ZoneTexte 51"/>
          <p:cNvSpPr txBox="1">
            <a:spLocks noChangeArrowheads="1"/>
          </p:cNvSpPr>
          <p:nvPr/>
        </p:nvSpPr>
        <p:spPr bwMode="auto">
          <a:xfrm>
            <a:off x="7769699" y="5683632"/>
            <a:ext cx="6604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100"/>
              <a:t>« hello »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487" y="3278345"/>
            <a:ext cx="713925" cy="469629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824" y="2994736"/>
            <a:ext cx="713925" cy="469629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812" y="4123177"/>
            <a:ext cx="713925" cy="469629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4" y="4578371"/>
            <a:ext cx="713925" cy="469629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307" y="2402473"/>
            <a:ext cx="750823" cy="493901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47" y="4346001"/>
            <a:ext cx="750823" cy="493901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610" y="3520779"/>
            <a:ext cx="750823" cy="493901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1078592" y="5484427"/>
            <a:ext cx="3066845" cy="3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729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85185E-6 L -0.02917 0.10417 L 0.14167 0.06111 L 0.29271 0.14722 L 0.14376 0.05278 L -0.04167 0.10417 L -0.00625 0.00417 L -0.03542 0.11389 L 0.1448 0.05834 L 0.29063 0.15 L 0.13646 0.06528 L -0.03646 0.10695 L 5E-6 -1.85185E-6 Z " pathEditMode="relative" rAng="0" ptsTypes="AAAAAAAAAAAAA">
                                      <p:cBhvr>
                                        <p:cTn id="1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 smtClean="0"/>
              <a:t>Un routage opportuniste orienté vers les services</a:t>
            </a:r>
            <a:endParaRPr lang="fr-FR" sz="44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912" y="1991006"/>
            <a:ext cx="5296886" cy="418460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987" y="3326769"/>
            <a:ext cx="713925" cy="46962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324" y="3043160"/>
            <a:ext cx="713925" cy="46962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12" y="4171601"/>
            <a:ext cx="713925" cy="46962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004" y="4626795"/>
            <a:ext cx="713925" cy="46962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807" y="2450897"/>
            <a:ext cx="750823" cy="49390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372" y="4365550"/>
            <a:ext cx="750823" cy="49390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110" y="3569203"/>
            <a:ext cx="750823" cy="49390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86158" y="5508644"/>
            <a:ext cx="3066845" cy="3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54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 smtClean="0"/>
              <a:t>LOCARN</a:t>
            </a:r>
            <a:r>
              <a:rPr lang="fr-FR" sz="4000" dirty="0"/>
              <a:t> </a:t>
            </a:r>
            <a:r>
              <a:rPr lang="fr-FR" sz="4000" dirty="0" smtClean="0"/>
              <a:t>en tant que technologie de transport</a:t>
            </a:r>
            <a:endParaRPr lang="fr-FR" sz="40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84447" y="1892228"/>
            <a:ext cx="3703320" cy="736282"/>
          </a:xfrm>
        </p:spPr>
        <p:txBody>
          <a:bodyPr/>
          <a:lstStyle/>
          <a:p>
            <a:r>
              <a:rPr lang="fr-FR" dirty="0" smtClean="0"/>
              <a:t>Point de vue Performances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39005" y="2834572"/>
            <a:ext cx="3703320" cy="18204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Résilience et disponibilité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Qualité de service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</a:t>
            </a:r>
            <a:r>
              <a:rPr lang="fr-FR" dirty="0" err="1" smtClean="0"/>
              <a:t>Scalabilité</a:t>
            </a:r>
            <a:endParaRPr lang="fr-FR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fr-FR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Espace réservé du contenu 3"/>
          <p:cNvSpPr txBox="1">
            <a:spLocks/>
          </p:cNvSpPr>
          <p:nvPr/>
        </p:nvSpPr>
        <p:spPr>
          <a:xfrm>
            <a:off x="3177873" y="4125392"/>
            <a:ext cx="4214600" cy="136719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fr-FR" sz="1800" dirty="0" smtClean="0">
                <a:solidFill>
                  <a:srgbClr val="FF0000"/>
                </a:solidFill>
              </a:rPr>
              <a:t> Établissement </a:t>
            </a:r>
            <a:r>
              <a:rPr lang="fr-FR" sz="1800" dirty="0" smtClean="0">
                <a:solidFill>
                  <a:srgbClr val="FF0000"/>
                </a:solidFill>
              </a:rPr>
              <a:t>et vérification des chemins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fr-FR" sz="1800" dirty="0" smtClean="0">
                <a:solidFill>
                  <a:srgbClr val="FF0000"/>
                </a:solidFill>
              </a:rPr>
              <a:t> Réparation </a:t>
            </a:r>
            <a:r>
              <a:rPr lang="fr-FR" sz="1800" dirty="0" smtClean="0">
                <a:solidFill>
                  <a:srgbClr val="FF0000"/>
                </a:solidFill>
              </a:rPr>
              <a:t>des chemins</a:t>
            </a:r>
            <a:endParaRPr lang="fr-FR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82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9F24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9F24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C000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C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88" b="9688"/>
          <a:stretch>
            <a:fillRect/>
          </a:stretch>
        </p:blipFill>
        <p:spPr/>
      </p:pic>
      <p:sp>
        <p:nvSpPr>
          <p:cNvPr id="4" name="Titre 1"/>
          <p:cNvSpPr txBox="1">
            <a:spLocks/>
          </p:cNvSpPr>
          <p:nvPr/>
        </p:nvSpPr>
        <p:spPr>
          <a:xfrm>
            <a:off x="820982" y="5252167"/>
            <a:ext cx="7589520" cy="822960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Étude des performances de LOCARN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25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Étude des performances de LOCARN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>
          <a:xfrm>
            <a:off x="822960" y="2176252"/>
            <a:ext cx="3703320" cy="736282"/>
          </a:xfrm>
        </p:spPr>
        <p:txBody>
          <a:bodyPr/>
          <a:lstStyle/>
          <a:p>
            <a:r>
              <a:rPr lang="fr-FR" dirty="0"/>
              <a:t>Performances et sur-débits en conditions « normales »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sz="half" idx="2"/>
          </p:nvPr>
        </p:nvSpPr>
        <p:spPr>
          <a:xfrm>
            <a:off x="822960" y="2912535"/>
            <a:ext cx="3703320" cy="32867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 smtClean="0"/>
              <a:t>Estimations des sur-débits de LOCARN avec un modèle analytique simple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 smtClean="0"/>
              <a:t>Étude des performances et coût des découvertes de chemins sur un réseau national par simulation (</a:t>
            </a:r>
            <a:r>
              <a:rPr lang="fr-FR" b="1" dirty="0" err="1" smtClean="0"/>
              <a:t>OMNeT</a:t>
            </a:r>
            <a:r>
              <a:rPr lang="fr-FR" b="1" dirty="0" smtClean="0"/>
              <a:t>++)</a:t>
            </a:r>
            <a:endParaRPr lang="fr-FR" b="1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3"/>
          </p:nvPr>
        </p:nvSpPr>
        <p:spPr>
          <a:xfrm>
            <a:off x="4663440" y="2176252"/>
            <a:ext cx="3703320" cy="736282"/>
          </a:xfrm>
        </p:spPr>
        <p:txBody>
          <a:bodyPr>
            <a:normAutofit fontScale="92500"/>
          </a:bodyPr>
          <a:lstStyle/>
          <a:p>
            <a:r>
              <a:rPr lang="fr-FR" dirty="0" smtClean="0"/>
              <a:t>Performances et sur-débits </a:t>
            </a:r>
            <a:r>
              <a:rPr lang="fr-FR" dirty="0"/>
              <a:t>en cas de </a:t>
            </a:r>
            <a:r>
              <a:rPr lang="fr-FR" dirty="0" smtClean="0"/>
              <a:t>ruptures </a:t>
            </a:r>
            <a:r>
              <a:rPr lang="fr-FR" dirty="0"/>
              <a:t>dans le réseau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4"/>
          </p:nvPr>
        </p:nvSpPr>
        <p:spPr>
          <a:xfrm>
            <a:off x="4663440" y="2912534"/>
            <a:ext cx="3703320" cy="32867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 smtClean="0"/>
              <a:t>Étude </a:t>
            </a:r>
            <a:r>
              <a:rPr lang="fr-FR" b="1" dirty="0" smtClean="0"/>
              <a:t>stochastique de </a:t>
            </a:r>
            <a:r>
              <a:rPr lang="fr-FR" b="1" dirty="0" smtClean="0"/>
              <a:t>la production de sur-débits liés à la restauration des chemins avec une chaîne de Markov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 smtClean="0"/>
              <a:t>Étude de l’impact des restaurations de chemins simultanées sur la </a:t>
            </a:r>
            <a:r>
              <a:rPr lang="fr-FR" b="1" dirty="0" err="1" smtClean="0"/>
              <a:t>QoS</a:t>
            </a:r>
            <a:r>
              <a:rPr lang="fr-FR" b="1" dirty="0" smtClean="0"/>
              <a:t> par simulation (</a:t>
            </a:r>
            <a:r>
              <a:rPr lang="fr-FR" b="1" dirty="0" err="1" smtClean="0"/>
              <a:t>OMNeT</a:t>
            </a:r>
            <a:r>
              <a:rPr lang="fr-FR" b="1" dirty="0" smtClean="0"/>
              <a:t>++)</a:t>
            </a:r>
            <a:endParaRPr lang="fr-FR" b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11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dirty="0" smtClean="0"/>
              <a:t>Performances et sur-débits en conditions « normales »</a:t>
            </a:r>
            <a:endParaRPr lang="fr-FR" sz="60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49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 et sur-débits en conditions « normales »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16</a:t>
            </a:fld>
            <a:endParaRPr lang="en-US" dirty="0"/>
          </a:p>
        </p:txBody>
      </p:sp>
      <p:pic>
        <p:nvPicPr>
          <p:cNvPr id="23" name="Image 8" descr="m_flood_curve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200" y="3100179"/>
            <a:ext cx="4139247" cy="2885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ZoneTexte 23"/>
          <p:cNvSpPr txBox="1">
            <a:spLocks noChangeArrowheads="1"/>
          </p:cNvSpPr>
          <p:nvPr/>
        </p:nvSpPr>
        <p:spPr bwMode="auto">
          <a:xfrm>
            <a:off x="1781314" y="5882351"/>
            <a:ext cx="36968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600" b="1" dirty="0" smtClean="0">
                <a:solidFill>
                  <a:schemeClr val="tx2"/>
                </a:solidFill>
              </a:rPr>
              <a:t>Réseau national de Orange (France)</a:t>
            </a:r>
            <a:endParaRPr lang="fr-FR" altLang="fr-FR" sz="1600" b="1" dirty="0">
              <a:solidFill>
                <a:schemeClr val="tx2"/>
              </a:solidFill>
            </a:endParaRPr>
          </a:p>
        </p:txBody>
      </p:sp>
      <p:sp>
        <p:nvSpPr>
          <p:cNvPr id="25" name="Flèche droite 24"/>
          <p:cNvSpPr/>
          <p:nvPr/>
        </p:nvSpPr>
        <p:spPr>
          <a:xfrm rot="18568294">
            <a:off x="3458500" y="5684468"/>
            <a:ext cx="409575" cy="114300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chemeClr val="tx2"/>
              </a:solidFill>
            </a:endParaRPr>
          </a:p>
        </p:txBody>
      </p:sp>
      <p:sp>
        <p:nvSpPr>
          <p:cNvPr id="27" name="Espace réservé du contenu 6"/>
          <p:cNvSpPr>
            <a:spLocks noGrp="1"/>
          </p:cNvSpPr>
          <p:nvPr>
            <p:ph idx="1"/>
          </p:nvPr>
        </p:nvSpPr>
        <p:spPr>
          <a:xfrm>
            <a:off x="857722" y="2144307"/>
            <a:ext cx="7474276" cy="1119187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fr-FR" altLang="fr-FR" u="sng" dirty="0" smtClean="0"/>
              <a:t>Le nombre paquets produit par une inondation dépend :</a:t>
            </a:r>
            <a:endParaRPr lang="en-US" altLang="fr-FR" sz="1600" dirty="0" smtClean="0"/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altLang="fr-FR" sz="1600" b="1" dirty="0" smtClean="0"/>
              <a:t>Du</a:t>
            </a:r>
            <a:r>
              <a:rPr lang="en-US" altLang="fr-FR" sz="1600" dirty="0" smtClean="0"/>
              <a:t> </a:t>
            </a:r>
            <a:r>
              <a:rPr lang="en-US" altLang="fr-FR" sz="1600" b="1" dirty="0" smtClean="0"/>
              <a:t>“Time To Live”</a:t>
            </a:r>
            <a:r>
              <a:rPr lang="en-US" altLang="fr-FR" sz="1600" dirty="0" smtClean="0"/>
              <a:t> (TTL, </a:t>
            </a:r>
            <a:r>
              <a:rPr lang="en-US" altLang="fr-FR" sz="1600" dirty="0" err="1" smtClean="0"/>
              <a:t>en</a:t>
            </a:r>
            <a:r>
              <a:rPr lang="en-US" altLang="fr-FR" sz="1600" dirty="0" smtClean="0"/>
              <a:t> </a:t>
            </a:r>
            <a:r>
              <a:rPr lang="en-US" altLang="fr-FR" sz="1600" dirty="0" err="1" smtClean="0"/>
              <a:t>nombre</a:t>
            </a:r>
            <a:r>
              <a:rPr lang="en-US" altLang="fr-FR" sz="1600" dirty="0" smtClean="0"/>
              <a:t> de </a:t>
            </a:r>
            <a:r>
              <a:rPr lang="en-US" altLang="fr-FR" sz="1600" dirty="0" err="1" smtClean="0"/>
              <a:t>sauts</a:t>
            </a:r>
            <a:r>
              <a:rPr lang="en-US" altLang="fr-FR" sz="1600" dirty="0" smtClean="0"/>
              <a:t>)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altLang="fr-FR" sz="1600" b="1" dirty="0" smtClean="0"/>
              <a:t>De la </a:t>
            </a:r>
            <a:r>
              <a:rPr lang="en-US" altLang="fr-FR" sz="1600" b="1" dirty="0" err="1" smtClean="0"/>
              <a:t>densité</a:t>
            </a:r>
            <a:r>
              <a:rPr lang="en-US" altLang="fr-FR" sz="1600" b="1" dirty="0" smtClean="0"/>
              <a:t> </a:t>
            </a:r>
            <a:r>
              <a:rPr lang="en-US" altLang="fr-FR" sz="1600" b="1" dirty="0" err="1" smtClean="0"/>
              <a:t>moyenne</a:t>
            </a:r>
            <a:r>
              <a:rPr lang="en-US" altLang="fr-FR" sz="1600" dirty="0" smtClean="0"/>
              <a:t> du </a:t>
            </a:r>
            <a:r>
              <a:rPr lang="en-US" altLang="fr-FR" sz="1600" dirty="0" err="1" smtClean="0"/>
              <a:t>réseau</a:t>
            </a:r>
            <a:r>
              <a:rPr lang="en-US" altLang="fr-FR" sz="1600" dirty="0" smtClean="0"/>
              <a:t> (</a:t>
            </a:r>
            <a:r>
              <a:rPr lang="el-GR" alt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fr-FR" altLang="fr-FR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fr-FR" altLang="fr-FR" sz="1600" dirty="0" smtClean="0"/>
              <a:t>)	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8988" y="3284538"/>
            <a:ext cx="863600" cy="1728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31" name="ZoneTexte 30"/>
          <p:cNvSpPr txBox="1">
            <a:spLocks noChangeArrowheads="1"/>
          </p:cNvSpPr>
          <p:nvPr/>
        </p:nvSpPr>
        <p:spPr bwMode="auto">
          <a:xfrm>
            <a:off x="159933" y="3297774"/>
            <a:ext cx="172088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600" dirty="0"/>
              <a:t>Messages </a:t>
            </a:r>
            <a:r>
              <a:rPr lang="fr-FR" altLang="fr-FR" sz="1600" dirty="0" smtClean="0"/>
              <a:t>générés par lien</a:t>
            </a:r>
            <a:br>
              <a:rPr lang="fr-FR" altLang="fr-FR" sz="1600" dirty="0" smtClean="0"/>
            </a:br>
            <a:r>
              <a:rPr lang="fr-FR" altLang="fr-FR" sz="1600" dirty="0" smtClean="0"/>
              <a:t>durant une inondation</a:t>
            </a:r>
            <a:endParaRPr lang="fr-FR" altLang="fr-FR" sz="1600" dirty="0"/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1735283" y="4076700"/>
            <a:ext cx="422275" cy="3651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>
          <a:xfrm>
            <a:off x="4097588" y="4656138"/>
            <a:ext cx="580865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1" dirty="0">
                <a:solidFill>
                  <a:schemeClr val="tx2"/>
                </a:solidFill>
              </a:rPr>
              <a:t>TTL=D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4099175" y="4462466"/>
            <a:ext cx="844480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200" b="1" dirty="0">
                <a:solidFill>
                  <a:schemeClr val="tx2"/>
                </a:solidFill>
              </a:rPr>
              <a:t>TTL=D+1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4089657" y="4283078"/>
            <a:ext cx="736355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1" dirty="0">
                <a:solidFill>
                  <a:schemeClr val="tx2"/>
                </a:solidFill>
              </a:rPr>
              <a:t>TTL=D+2</a:t>
            </a:r>
          </a:p>
        </p:txBody>
      </p:sp>
      <p:cxnSp>
        <p:nvCxnSpPr>
          <p:cNvPr id="36" name="Connecteur droit avec flèche 35"/>
          <p:cNvCxnSpPr/>
          <p:nvPr/>
        </p:nvCxnSpPr>
        <p:spPr>
          <a:xfrm flipH="1" flipV="1">
            <a:off x="3883282" y="4781553"/>
            <a:ext cx="269875" cy="4763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 flipH="1">
            <a:off x="3883282" y="4586291"/>
            <a:ext cx="269875" cy="5080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>
          <a:xfrm flipH="1">
            <a:off x="3881694" y="4441828"/>
            <a:ext cx="269875" cy="5080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space réservé du contenu 6"/>
          <p:cNvSpPr txBox="1">
            <a:spLocks/>
          </p:cNvSpPr>
          <p:nvPr/>
        </p:nvSpPr>
        <p:spPr bwMode="auto">
          <a:xfrm>
            <a:off x="6511291" y="3232153"/>
            <a:ext cx="2300288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93675" indent="-193675"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fr-FR" altLang="fr-FR" u="sng" dirty="0" smtClean="0">
                <a:latin typeface="+mn-lt"/>
              </a:rPr>
              <a:t>Constat:</a:t>
            </a:r>
            <a:endParaRPr lang="fr-FR" altLang="fr-FR" u="sng" dirty="0">
              <a:latin typeface="+mn-lt"/>
            </a:endParaRPr>
          </a:p>
          <a:p>
            <a:pPr marL="0" indent="0" algn="ctr" eaLnBrk="1" hangingPunct="1">
              <a:buNone/>
            </a:pPr>
            <a:r>
              <a:rPr lang="en-US" altLang="fr-FR" sz="1800" b="1" dirty="0" smtClean="0">
                <a:latin typeface="+mn-lt"/>
              </a:rPr>
              <a:t>Le TTL </a:t>
            </a:r>
            <a:r>
              <a:rPr lang="en-US" altLang="fr-FR" sz="1800" b="1" dirty="0" err="1" smtClean="0">
                <a:latin typeface="+mn-lt"/>
              </a:rPr>
              <a:t>est</a:t>
            </a:r>
            <a:r>
              <a:rPr lang="en-US" altLang="fr-FR" sz="1800" b="1" dirty="0" smtClean="0">
                <a:latin typeface="+mn-lt"/>
              </a:rPr>
              <a:t> un </a:t>
            </a:r>
            <a:r>
              <a:rPr lang="en-US" altLang="fr-FR" sz="1800" b="1" dirty="0" err="1" smtClean="0">
                <a:latin typeface="+mn-lt"/>
              </a:rPr>
              <a:t>facteur</a:t>
            </a:r>
            <a:r>
              <a:rPr lang="en-US" altLang="fr-FR" sz="1800" b="1" dirty="0" smtClean="0">
                <a:latin typeface="+mn-lt"/>
              </a:rPr>
              <a:t> </a:t>
            </a:r>
            <a:r>
              <a:rPr lang="en-US" altLang="fr-FR" sz="1800" b="1" dirty="0" err="1" smtClean="0">
                <a:latin typeface="+mn-lt"/>
              </a:rPr>
              <a:t>décisif</a:t>
            </a:r>
            <a:r>
              <a:rPr lang="en-US" altLang="fr-FR" sz="1800" b="1" dirty="0" smtClean="0">
                <a:latin typeface="+mn-lt"/>
              </a:rPr>
              <a:t> de la production de messages par les </a:t>
            </a:r>
            <a:r>
              <a:rPr lang="en-US" altLang="fr-FR" sz="1800" b="1" dirty="0" err="1" smtClean="0">
                <a:latin typeface="+mn-lt"/>
              </a:rPr>
              <a:t>inondations</a:t>
            </a:r>
            <a:endParaRPr lang="en-US" altLang="fr-FR" sz="1800" b="1" dirty="0" smtClean="0">
              <a:latin typeface="+mn-lt"/>
            </a:endParaRPr>
          </a:p>
        </p:txBody>
      </p:sp>
      <p:cxnSp>
        <p:nvCxnSpPr>
          <p:cNvPr id="26" name="Connecteur droit 25"/>
          <p:cNvCxnSpPr/>
          <p:nvPr/>
        </p:nvCxnSpPr>
        <p:spPr>
          <a:xfrm flipV="1">
            <a:off x="3864156" y="3387970"/>
            <a:ext cx="1588" cy="2160587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 21" descr="m_floo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830" y="3681482"/>
            <a:ext cx="5500379" cy="14425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810260" y="1817514"/>
            <a:ext cx="6100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cap="all" dirty="0" smtClean="0">
                <a:solidFill>
                  <a:schemeClr val="tx2"/>
                </a:solidFill>
              </a:rPr>
              <a:t>Coût de la découverte par estimation analytique</a:t>
            </a:r>
            <a:endParaRPr lang="fr-FR" sz="2000" cap="al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31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85185E-6 L 0.34392 0.2108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88" y="1053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31" grpId="0"/>
      <p:bldP spid="33" grpId="0"/>
      <p:bldP spid="33" grpId="1"/>
      <p:bldP spid="34" grpId="0"/>
      <p:bldP spid="34" grpId="1"/>
      <p:bldP spid="35" grpId="0"/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 et sur-débits en conditions « normales »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17</a:t>
            </a:fld>
            <a:endParaRPr lang="en-US" dirty="0"/>
          </a:p>
        </p:txBody>
      </p:sp>
      <p:pic>
        <p:nvPicPr>
          <p:cNvPr id="21" name="Image 5" descr="overall_overhead_estimation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06" y="2548201"/>
            <a:ext cx="7460696" cy="37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/>
          <p:cNvSpPr txBox="1">
            <a:spLocks noChangeArrowheads="1"/>
          </p:cNvSpPr>
          <p:nvPr/>
        </p:nvSpPr>
        <p:spPr bwMode="auto">
          <a:xfrm>
            <a:off x="997875" y="6280481"/>
            <a:ext cx="27845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400" dirty="0" smtClean="0">
                <a:solidFill>
                  <a:schemeClr val="bg1"/>
                </a:solidFill>
                <a:latin typeface="+mn-lt"/>
              </a:rPr>
              <a:t>Facteurs de sur-débits</a:t>
            </a:r>
            <a:endParaRPr lang="fr-FR" altLang="fr-FR" sz="1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4" name="ZoneTexte 23"/>
          <p:cNvSpPr txBox="1">
            <a:spLocks noChangeArrowheads="1"/>
          </p:cNvSpPr>
          <p:nvPr/>
        </p:nvSpPr>
        <p:spPr bwMode="auto">
          <a:xfrm>
            <a:off x="423752" y="2115016"/>
            <a:ext cx="21306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>
                <a:latin typeface="+mn-lt"/>
              </a:rPr>
              <a:t>Topologie du réseau</a:t>
            </a:r>
            <a:endParaRPr lang="fr-FR" altLang="fr-FR" sz="1200" dirty="0">
              <a:latin typeface="+mn-lt"/>
            </a:endParaRPr>
          </a:p>
        </p:txBody>
      </p:sp>
      <p:sp>
        <p:nvSpPr>
          <p:cNvPr id="25" name="ZoneTexte 24"/>
          <p:cNvSpPr txBox="1">
            <a:spLocks noChangeArrowheads="1"/>
          </p:cNvSpPr>
          <p:nvPr/>
        </p:nvSpPr>
        <p:spPr bwMode="auto">
          <a:xfrm>
            <a:off x="1911658" y="2114922"/>
            <a:ext cx="1784761" cy="260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>
                <a:latin typeface="+mn-lt"/>
              </a:rPr>
              <a:t>Nombre de services</a:t>
            </a:r>
            <a:endParaRPr lang="fr-FR" altLang="fr-FR" sz="1200" dirty="0">
              <a:latin typeface="+mn-lt"/>
            </a:endParaRPr>
          </a:p>
        </p:txBody>
      </p:sp>
      <p:cxnSp>
        <p:nvCxnSpPr>
          <p:cNvPr id="26" name="Connecteur droit avec flèche 25"/>
          <p:cNvCxnSpPr/>
          <p:nvPr/>
        </p:nvCxnSpPr>
        <p:spPr>
          <a:xfrm>
            <a:off x="1489074" y="2394806"/>
            <a:ext cx="18415" cy="25639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2769064" y="2384236"/>
            <a:ext cx="1273" cy="23838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>
            <a:spLocks noChangeArrowheads="1"/>
          </p:cNvSpPr>
          <p:nvPr/>
        </p:nvSpPr>
        <p:spPr bwMode="auto">
          <a:xfrm>
            <a:off x="2344120" y="2118717"/>
            <a:ext cx="1592560" cy="286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>
                <a:latin typeface="+mn-lt"/>
              </a:rPr>
              <a:t>Paramètres LOCARN</a:t>
            </a:r>
            <a:endParaRPr lang="fr-FR" altLang="fr-FR" sz="1200" dirty="0">
              <a:latin typeface="+mn-lt"/>
            </a:endParaRPr>
          </a:p>
        </p:txBody>
      </p:sp>
      <p:cxnSp>
        <p:nvCxnSpPr>
          <p:cNvPr id="29" name="Connecteur droit avec flèche 28"/>
          <p:cNvCxnSpPr/>
          <p:nvPr/>
        </p:nvCxnSpPr>
        <p:spPr>
          <a:xfrm flipH="1">
            <a:off x="2371617" y="2405374"/>
            <a:ext cx="182780" cy="21888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>
            <a:off x="3024069" y="2389854"/>
            <a:ext cx="101684" cy="20910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>
            <a:off x="3321844" y="2379475"/>
            <a:ext cx="257605" cy="24002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>
            <a:spLocks noChangeArrowheads="1"/>
          </p:cNvSpPr>
          <p:nvPr/>
        </p:nvSpPr>
        <p:spPr bwMode="auto">
          <a:xfrm>
            <a:off x="6733847" y="2023512"/>
            <a:ext cx="21708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>
                <a:solidFill>
                  <a:srgbClr val="00B050"/>
                </a:solidFill>
                <a:latin typeface="+mn-lt"/>
              </a:rPr>
              <a:t>Estimation des sur-débits cumulés</a:t>
            </a:r>
            <a:endParaRPr lang="fr-FR" altLang="fr-FR" sz="12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4" name="Ellipse 33"/>
          <p:cNvSpPr/>
          <p:nvPr/>
        </p:nvSpPr>
        <p:spPr>
          <a:xfrm>
            <a:off x="7490489" y="4476389"/>
            <a:ext cx="765472" cy="180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35" name="Rectangle à coins arrondis 34"/>
          <p:cNvSpPr/>
          <p:nvPr/>
        </p:nvSpPr>
        <p:spPr>
          <a:xfrm>
            <a:off x="7466130" y="2590872"/>
            <a:ext cx="823716" cy="3638457"/>
          </a:xfrm>
          <a:prstGeom prst="roundRect">
            <a:avLst>
              <a:gd name="adj" fmla="val 11073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822960" y="2548201"/>
            <a:ext cx="3034665" cy="3743536"/>
          </a:xfrm>
          <a:prstGeom prst="roundRect">
            <a:avLst>
              <a:gd name="adj" fmla="val 6845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884590" y="1761546"/>
            <a:ext cx="3229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cap="all" dirty="0" smtClean="0">
                <a:solidFill>
                  <a:schemeClr val="tx2"/>
                </a:solidFill>
              </a:rPr>
              <a:t>Estimation des sur-débits</a:t>
            </a:r>
            <a:endParaRPr lang="fr-FR" sz="2000" cap="al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63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4" grpId="1"/>
      <p:bldP spid="25" grpId="0"/>
      <p:bldP spid="25" grpId="1"/>
      <p:bldP spid="28" grpId="0"/>
      <p:bldP spid="28" grpId="1"/>
      <p:bldP spid="32" grpId="0"/>
      <p:bldP spid="34" grpId="0" animBg="1"/>
      <p:bldP spid="3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 et sur-débits en conditions « normales »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960" y="1741663"/>
            <a:ext cx="41254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cap="all" dirty="0" smtClean="0">
                <a:solidFill>
                  <a:schemeClr val="tx2"/>
                </a:solidFill>
              </a:rPr>
              <a:t>Simulation d’un réseau national</a:t>
            </a:r>
            <a:endParaRPr lang="fr-FR" sz="2000" cap="all" dirty="0">
              <a:solidFill>
                <a:schemeClr val="tx2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13" y="2249632"/>
            <a:ext cx="5249423" cy="3994483"/>
          </a:xfrm>
          <a:prstGeom prst="rect">
            <a:avLst/>
          </a:prstGeom>
        </p:spPr>
      </p:pic>
      <p:sp>
        <p:nvSpPr>
          <p:cNvPr id="10" name="Espace réservé du contenu 6"/>
          <p:cNvSpPr txBox="1">
            <a:spLocks/>
          </p:cNvSpPr>
          <p:nvPr/>
        </p:nvSpPr>
        <p:spPr>
          <a:xfrm>
            <a:off x="6391480" y="2416255"/>
            <a:ext cx="2272730" cy="21141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fr-FR" altLang="fr-FR" sz="1800" u="sng" dirty="0" smtClean="0"/>
              <a:t>Topologie:</a:t>
            </a:r>
            <a:endParaRPr lang="en-US" altLang="fr-FR" sz="1400" dirty="0" smtClean="0"/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fr-FR" altLang="fr-FR" sz="1600" b="1" dirty="0" smtClean="0"/>
              <a:t>68 liens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fr-FR" altLang="fr-FR" sz="1600" b="1" dirty="0" smtClean="0"/>
              <a:t>densité du réseau = 3,23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fr-FR" altLang="fr-FR" sz="1600" b="1" dirty="0" smtClean="0"/>
              <a:t>diamètre = 7</a:t>
            </a:r>
            <a:endParaRPr lang="en-US" altLang="fr-FR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35338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 et sur-débits en conditions « normales »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19</a:t>
            </a:fld>
            <a:endParaRPr lang="en-US" dirty="0"/>
          </a:p>
        </p:txBody>
      </p:sp>
      <p:sp>
        <p:nvSpPr>
          <p:cNvPr id="13" name="Espace réservé du contenu 6"/>
          <p:cNvSpPr>
            <a:spLocks noGrp="1"/>
          </p:cNvSpPr>
          <p:nvPr>
            <p:ph idx="1"/>
          </p:nvPr>
        </p:nvSpPr>
        <p:spPr>
          <a:xfrm>
            <a:off x="913961" y="2046897"/>
            <a:ext cx="5386945" cy="928969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fr-FR" altLang="fr-FR" sz="1800" u="sng" dirty="0" smtClean="0"/>
              <a:t>Métrique:</a:t>
            </a:r>
            <a:endParaRPr lang="en-US" altLang="fr-FR" sz="1400" dirty="0" smtClean="0"/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fr-FR" sz="1600" dirty="0" smtClean="0"/>
              <a:t> Nombre de messages par liens générés pendant une inondation </a:t>
            </a:r>
            <a:r>
              <a:rPr lang="fr-FR" altLang="fr-FR" sz="1400" dirty="0" smtClean="0"/>
              <a:t>	</a:t>
            </a:r>
          </a:p>
        </p:txBody>
      </p:sp>
      <p:sp>
        <p:nvSpPr>
          <p:cNvPr id="29" name="Espace réservé du contenu 6"/>
          <p:cNvSpPr txBox="1">
            <a:spLocks/>
          </p:cNvSpPr>
          <p:nvPr/>
        </p:nvSpPr>
        <p:spPr>
          <a:xfrm>
            <a:off x="5648325" y="3704057"/>
            <a:ext cx="2839147" cy="238241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fr-FR" altLang="fr-FR" u="sng" dirty="0" smtClean="0"/>
              <a:t>Constat :</a:t>
            </a:r>
            <a:endParaRPr lang="en-US" altLang="fr-FR" sz="1600" dirty="0" smtClean="0"/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fr-FR" sz="1800" dirty="0" smtClean="0"/>
              <a:t> </a:t>
            </a:r>
            <a:r>
              <a:rPr lang="fr-FR" altLang="fr-FR" sz="1800" b="1" dirty="0" smtClean="0"/>
              <a:t>L’estimation théorique est validée</a:t>
            </a:r>
            <a:endParaRPr lang="en-US" altLang="fr-FR" sz="1800" b="1" dirty="0" smtClean="0"/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fr-FR" sz="1800" b="1" dirty="0" err="1" smtClean="0"/>
              <a:t>L’estimation</a:t>
            </a:r>
            <a:r>
              <a:rPr lang="en-US" altLang="fr-FR" sz="1800" b="1" dirty="0" smtClean="0"/>
              <a:t> </a:t>
            </a:r>
            <a:r>
              <a:rPr lang="en-US" altLang="fr-FR" sz="1800" b="1" dirty="0" err="1" smtClean="0"/>
              <a:t>théorique</a:t>
            </a:r>
            <a:r>
              <a:rPr lang="en-US" altLang="fr-FR" sz="1800" b="1" dirty="0" smtClean="0"/>
              <a:t> </a:t>
            </a:r>
            <a:r>
              <a:rPr lang="en-US" altLang="fr-FR" sz="1800" b="1" dirty="0" err="1" smtClean="0"/>
              <a:t>est</a:t>
            </a:r>
            <a:r>
              <a:rPr lang="en-US" altLang="fr-FR" sz="1800" b="1" dirty="0" smtClean="0"/>
              <a:t> </a:t>
            </a:r>
            <a:r>
              <a:rPr lang="en-US" altLang="fr-FR" sz="1800" b="1" dirty="0" err="1" smtClean="0"/>
              <a:t>moins</a:t>
            </a:r>
            <a:r>
              <a:rPr lang="en-US" altLang="fr-FR" sz="1800" b="1" dirty="0" smtClean="0"/>
              <a:t> </a:t>
            </a:r>
            <a:r>
              <a:rPr lang="en-US" altLang="fr-FR" sz="1800" b="1" dirty="0" err="1" smtClean="0"/>
              <a:t>précise</a:t>
            </a:r>
            <a:r>
              <a:rPr lang="en-US" altLang="fr-FR" sz="1800" b="1" dirty="0" smtClean="0"/>
              <a:t> à </a:t>
            </a:r>
            <a:r>
              <a:rPr lang="en-US" altLang="fr-FR" sz="1800" b="1" dirty="0" err="1" smtClean="0"/>
              <a:t>mesure</a:t>
            </a:r>
            <a:r>
              <a:rPr lang="en-US" altLang="fr-FR" sz="1800" b="1" dirty="0"/>
              <a:t> </a:t>
            </a:r>
            <a:r>
              <a:rPr lang="en-US" altLang="fr-FR" sz="1800" b="1" dirty="0" err="1" smtClean="0"/>
              <a:t>que</a:t>
            </a:r>
            <a:r>
              <a:rPr lang="en-US" altLang="fr-FR" sz="1800" b="1" dirty="0" smtClean="0"/>
              <a:t> le TTL </a:t>
            </a:r>
            <a:r>
              <a:rPr lang="en-US" altLang="fr-FR" sz="1800" b="1" dirty="0" err="1" smtClean="0"/>
              <a:t>s’éloigne</a:t>
            </a:r>
            <a:r>
              <a:rPr lang="en-US" altLang="fr-FR" sz="1800" b="1" dirty="0" smtClean="0"/>
              <a:t> du </a:t>
            </a:r>
            <a:r>
              <a:rPr lang="en-US" altLang="fr-FR" sz="1800" b="1" dirty="0" err="1" smtClean="0"/>
              <a:t>diamètre</a:t>
            </a:r>
            <a:r>
              <a:rPr lang="en-US" altLang="fr-FR" sz="1800" b="1" dirty="0" smtClean="0"/>
              <a:t> </a:t>
            </a:r>
            <a:r>
              <a:rPr lang="en-US" altLang="fr-FR" sz="1800" b="1" dirty="0" err="1" smtClean="0"/>
              <a:t>réseau</a:t>
            </a:r>
            <a:endParaRPr lang="fr-FR" altLang="fr-FR" sz="1600" b="1" dirty="0" smtClean="0"/>
          </a:p>
        </p:txBody>
      </p:sp>
      <p:pic>
        <p:nvPicPr>
          <p:cNvPr id="21" name="Image 8" descr="path_discovery_cos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61" y="3003296"/>
            <a:ext cx="4366739" cy="333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2847537" y="3292605"/>
            <a:ext cx="1564967" cy="2284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cxnSp>
        <p:nvCxnSpPr>
          <p:cNvPr id="25" name="Connecteur droit avec flèche 24"/>
          <p:cNvCxnSpPr>
            <a:stCxn id="22" idx="1"/>
          </p:cNvCxnSpPr>
          <p:nvPr/>
        </p:nvCxnSpPr>
        <p:spPr>
          <a:xfrm flipH="1">
            <a:off x="1200150" y="3406835"/>
            <a:ext cx="1647387" cy="879415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822960" y="1741663"/>
            <a:ext cx="28965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cap="all" dirty="0">
                <a:solidFill>
                  <a:schemeClr val="tx2"/>
                </a:solidFill>
              </a:rPr>
              <a:t>Coût de la </a:t>
            </a:r>
            <a:r>
              <a:rPr lang="fr-FR" sz="2000" cap="all" dirty="0" smtClean="0">
                <a:solidFill>
                  <a:schemeClr val="tx2"/>
                </a:solidFill>
              </a:rPr>
              <a:t>découverte</a:t>
            </a:r>
            <a:endParaRPr lang="fr-FR" sz="2000" cap="all" dirty="0">
              <a:solidFill>
                <a:schemeClr val="tx2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6368778" y="1865957"/>
            <a:ext cx="2003496" cy="1015663"/>
          </a:xfrm>
          <a:prstGeom prst="roundRect">
            <a:avLst>
              <a:gd name="adj" fmla="val 11611"/>
            </a:avLst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15" name="ZoneTexte 9"/>
          <p:cNvSpPr txBox="1">
            <a:spLocks noChangeArrowheads="1"/>
          </p:cNvSpPr>
          <p:nvPr/>
        </p:nvSpPr>
        <p:spPr bwMode="auto">
          <a:xfrm>
            <a:off x="6351276" y="1891357"/>
            <a:ext cx="204342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/>
              <a:t>Topologie :</a:t>
            </a:r>
            <a:endParaRPr lang="fr-FR" altLang="fr-FR" sz="1200" dirty="0"/>
          </a:p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/>
              <a:t>   - 42 </a:t>
            </a:r>
            <a:r>
              <a:rPr lang="fr-FR" altLang="fr-FR" sz="1200" dirty="0" smtClean="0"/>
              <a:t>nœuds</a:t>
            </a:r>
          </a:p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/>
              <a:t>   - 68 liens</a:t>
            </a:r>
          </a:p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/>
              <a:t>   </a:t>
            </a:r>
            <a:r>
              <a:rPr lang="fr-FR" altLang="fr-FR" sz="1200" dirty="0"/>
              <a:t>- </a:t>
            </a:r>
            <a:r>
              <a:rPr lang="fr-FR" altLang="fr-FR" sz="1200" dirty="0" smtClean="0"/>
              <a:t>densité moyenne </a:t>
            </a:r>
            <a:r>
              <a:rPr lang="fr-FR" altLang="fr-FR" sz="1200" dirty="0"/>
              <a:t>= </a:t>
            </a:r>
            <a:r>
              <a:rPr lang="fr-FR" altLang="fr-FR" sz="1200" dirty="0" smtClean="0"/>
              <a:t>3,23</a:t>
            </a:r>
            <a:endParaRPr lang="fr-FR" altLang="fr-FR" sz="1200" dirty="0"/>
          </a:p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/>
              <a:t>   - </a:t>
            </a:r>
            <a:r>
              <a:rPr lang="fr-FR" altLang="fr-FR" sz="1200" dirty="0" smtClean="0"/>
              <a:t>diamètre </a:t>
            </a:r>
            <a:r>
              <a:rPr lang="fr-FR" altLang="fr-FR" sz="1200" dirty="0"/>
              <a:t>= 7</a:t>
            </a:r>
          </a:p>
        </p:txBody>
      </p:sp>
    </p:spTree>
    <p:extLst>
      <p:ext uri="{BB962C8B-B14F-4D97-AF65-F5344CB8AC3E}">
        <p14:creationId xmlns:p14="http://schemas.microsoft.com/office/powerpoint/2010/main" val="65421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 et sur-débits en conditions « normales »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20</a:t>
            </a:fld>
            <a:endParaRPr lang="en-US" dirty="0"/>
          </a:p>
        </p:txBody>
      </p:sp>
      <p:pic>
        <p:nvPicPr>
          <p:cNvPr id="12" name="Image 7" descr="path_discovery_perf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61" y="2813676"/>
            <a:ext cx="4528485" cy="3523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Espace réservé du contenu 6"/>
          <p:cNvSpPr>
            <a:spLocks noGrp="1"/>
          </p:cNvSpPr>
          <p:nvPr>
            <p:ph idx="1"/>
          </p:nvPr>
        </p:nvSpPr>
        <p:spPr>
          <a:xfrm>
            <a:off x="913961" y="2034197"/>
            <a:ext cx="7808912" cy="928969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fr-FR" altLang="fr-FR" sz="1800" u="sng" dirty="0" smtClean="0"/>
              <a:t>Métriques:</a:t>
            </a:r>
            <a:endParaRPr lang="en-US" altLang="fr-FR" sz="1400" dirty="0" smtClean="0"/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fr-FR" sz="1600" dirty="0" smtClean="0"/>
              <a:t> </a:t>
            </a:r>
            <a:r>
              <a:rPr lang="en-US" altLang="fr-FR" sz="1600" dirty="0" err="1" smtClean="0"/>
              <a:t>Durée</a:t>
            </a:r>
            <a:r>
              <a:rPr lang="en-US" altLang="fr-FR" sz="1600" dirty="0" smtClean="0"/>
              <a:t> de la </a:t>
            </a:r>
            <a:r>
              <a:rPr lang="en-US" altLang="fr-FR" sz="1600" dirty="0" err="1" smtClean="0"/>
              <a:t>découverte</a:t>
            </a:r>
            <a:r>
              <a:rPr lang="en-US" altLang="fr-FR" sz="1600" dirty="0" smtClean="0"/>
              <a:t> (</a:t>
            </a:r>
            <a:r>
              <a:rPr lang="en-US" altLang="fr-FR" sz="1600" dirty="0" err="1" smtClean="0"/>
              <a:t>ms</a:t>
            </a:r>
            <a:r>
              <a:rPr lang="en-US" altLang="fr-FR" sz="1600" dirty="0" smtClean="0"/>
              <a:t>)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fr-FR" sz="1600" dirty="0"/>
              <a:t> </a:t>
            </a:r>
            <a:r>
              <a:rPr lang="fr-FR" altLang="fr-FR" sz="1600" dirty="0" smtClean="0"/>
              <a:t>Nombre de chemins découverts</a:t>
            </a:r>
            <a:r>
              <a:rPr lang="fr-FR" altLang="fr-FR" sz="1400" dirty="0" smtClean="0"/>
              <a:t>	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6552" y="3167166"/>
            <a:ext cx="2012314" cy="260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cxnSp>
        <p:nvCxnSpPr>
          <p:cNvPr id="15" name="Connecteur droit avec flèche 14"/>
          <p:cNvCxnSpPr>
            <a:stCxn id="14" idx="1"/>
          </p:cNvCxnSpPr>
          <p:nvPr/>
        </p:nvCxnSpPr>
        <p:spPr>
          <a:xfrm flipH="1">
            <a:off x="1232601" y="3297658"/>
            <a:ext cx="1123951" cy="1041083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75676" y="3034018"/>
            <a:ext cx="1403940" cy="15845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4413951" y="3023276"/>
            <a:ext cx="842364" cy="1062578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space réservé du contenu 6"/>
          <p:cNvSpPr txBox="1">
            <a:spLocks/>
          </p:cNvSpPr>
          <p:nvPr/>
        </p:nvSpPr>
        <p:spPr>
          <a:xfrm>
            <a:off x="6099668" y="3702786"/>
            <a:ext cx="2428091" cy="2184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fr-FR" altLang="fr-FR" u="sng" dirty="0" smtClean="0"/>
              <a:t>Constat :</a:t>
            </a:r>
            <a:endParaRPr lang="en-US" altLang="fr-FR" sz="1600" dirty="0" smtClean="0"/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fr-FR" sz="1800" dirty="0" smtClean="0"/>
              <a:t> </a:t>
            </a:r>
            <a:r>
              <a:rPr lang="en-US" altLang="fr-FR" sz="1800" b="1" dirty="0" smtClean="0"/>
              <a:t>Des </a:t>
            </a:r>
            <a:r>
              <a:rPr lang="en-US" altLang="fr-FR" sz="1800" b="1" dirty="0" err="1" smtClean="0"/>
              <a:t>centaines</a:t>
            </a:r>
            <a:r>
              <a:rPr lang="en-US" altLang="fr-FR" sz="1800" b="1" dirty="0" smtClean="0"/>
              <a:t> de </a:t>
            </a:r>
            <a:r>
              <a:rPr lang="en-US" altLang="fr-FR" sz="1800" b="1" dirty="0" err="1" smtClean="0"/>
              <a:t>chemins</a:t>
            </a:r>
            <a:r>
              <a:rPr lang="en-US" altLang="fr-FR" sz="1800" b="1" dirty="0" smtClean="0"/>
              <a:t> </a:t>
            </a:r>
            <a:r>
              <a:rPr lang="en-US" altLang="fr-FR" sz="1800" b="1" dirty="0" err="1" smtClean="0"/>
              <a:t>découverts</a:t>
            </a:r>
            <a:r>
              <a:rPr lang="fr-FR" altLang="fr-FR" sz="1800" b="1" dirty="0"/>
              <a:t> </a:t>
            </a:r>
            <a:r>
              <a:rPr lang="fr-FR" altLang="fr-FR" sz="1800" b="1" dirty="0" smtClean="0"/>
              <a:t>avec</a:t>
            </a:r>
            <a:r>
              <a:rPr lang="en-US" altLang="fr-FR" sz="1800" b="1" dirty="0"/>
              <a:t> </a:t>
            </a:r>
            <a:r>
              <a:rPr lang="en-US" altLang="fr-FR" sz="1800" b="1" dirty="0" smtClean="0"/>
              <a:t>TTL = D+2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fr-FR" sz="1800" b="1" dirty="0" err="1" smtClean="0"/>
              <a:t>Découverte</a:t>
            </a:r>
            <a:r>
              <a:rPr lang="en-US" altLang="fr-FR" sz="1800" b="1" dirty="0" smtClean="0"/>
              <a:t> des </a:t>
            </a:r>
            <a:r>
              <a:rPr lang="en-US" altLang="fr-FR" sz="1800" b="1" dirty="0" err="1" smtClean="0"/>
              <a:t>chemins</a:t>
            </a:r>
            <a:r>
              <a:rPr lang="en-US" altLang="fr-FR" sz="1800" b="1" dirty="0" smtClean="0"/>
              <a:t> </a:t>
            </a:r>
            <a:r>
              <a:rPr lang="en-US" altLang="fr-FR" sz="1800" b="1" dirty="0" err="1" smtClean="0"/>
              <a:t>très</a:t>
            </a:r>
            <a:r>
              <a:rPr lang="en-US" altLang="fr-FR" sz="1800" b="1" dirty="0" smtClean="0"/>
              <a:t> </a:t>
            </a:r>
            <a:r>
              <a:rPr lang="en-US" altLang="fr-FR" sz="1800" b="1" dirty="0" err="1" smtClean="0"/>
              <a:t>rapide</a:t>
            </a:r>
            <a:endParaRPr lang="fr-FR" altLang="fr-FR" sz="1600" b="1" dirty="0" smtClean="0"/>
          </a:p>
        </p:txBody>
      </p:sp>
      <p:sp>
        <p:nvSpPr>
          <p:cNvPr id="3" name="Rectangle 2"/>
          <p:cNvSpPr/>
          <p:nvPr/>
        </p:nvSpPr>
        <p:spPr>
          <a:xfrm>
            <a:off x="812361" y="1758804"/>
            <a:ext cx="40370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cap="all" dirty="0" smtClean="0">
                <a:solidFill>
                  <a:schemeClr val="tx2"/>
                </a:solidFill>
              </a:rPr>
              <a:t>Performances </a:t>
            </a:r>
            <a:r>
              <a:rPr lang="fr-FR" sz="2000" cap="all" dirty="0">
                <a:solidFill>
                  <a:schemeClr val="tx2"/>
                </a:solidFill>
              </a:rPr>
              <a:t>de la </a:t>
            </a:r>
            <a:r>
              <a:rPr lang="fr-FR" sz="2000" cap="all" dirty="0" smtClean="0">
                <a:solidFill>
                  <a:schemeClr val="tx2"/>
                </a:solidFill>
              </a:rPr>
              <a:t>découverte</a:t>
            </a:r>
            <a:endParaRPr lang="fr-FR" sz="2000" cap="all" dirty="0">
              <a:solidFill>
                <a:schemeClr val="tx2"/>
              </a:solidFill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6368778" y="1865957"/>
            <a:ext cx="2003496" cy="1015663"/>
          </a:xfrm>
          <a:prstGeom prst="roundRect">
            <a:avLst>
              <a:gd name="adj" fmla="val 11611"/>
            </a:avLst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z="1600" smtClean="0">
              <a:solidFill>
                <a:srgbClr val="FFFFFF"/>
              </a:solidFill>
            </a:endParaRPr>
          </a:p>
        </p:txBody>
      </p:sp>
      <p:sp>
        <p:nvSpPr>
          <p:cNvPr id="21" name="ZoneTexte 9"/>
          <p:cNvSpPr txBox="1">
            <a:spLocks noChangeArrowheads="1"/>
          </p:cNvSpPr>
          <p:nvPr/>
        </p:nvSpPr>
        <p:spPr bwMode="auto">
          <a:xfrm>
            <a:off x="6351276" y="1891357"/>
            <a:ext cx="204342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Font typeface="Helvetica 45 Light" pitchFamily="34" charset="0"/>
              <a:buChar char="–"/>
              <a:defRPr sz="16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/>
              <a:t>Topologie :</a:t>
            </a:r>
            <a:endParaRPr lang="fr-FR" altLang="fr-FR" sz="1200" dirty="0"/>
          </a:p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/>
              <a:t>   - 42 </a:t>
            </a:r>
            <a:r>
              <a:rPr lang="fr-FR" altLang="fr-FR" sz="1200" dirty="0" smtClean="0"/>
              <a:t>nœuds</a:t>
            </a:r>
          </a:p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/>
              <a:t>   - 68 liens</a:t>
            </a:r>
          </a:p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 smtClean="0"/>
              <a:t>   </a:t>
            </a:r>
            <a:r>
              <a:rPr lang="fr-FR" altLang="fr-FR" sz="1200" dirty="0"/>
              <a:t>- </a:t>
            </a:r>
            <a:r>
              <a:rPr lang="fr-FR" altLang="fr-FR" sz="1200" dirty="0" smtClean="0"/>
              <a:t>densité moyenne </a:t>
            </a:r>
            <a:r>
              <a:rPr lang="fr-FR" altLang="fr-FR" sz="1200" dirty="0"/>
              <a:t>= </a:t>
            </a:r>
            <a:r>
              <a:rPr lang="fr-FR" altLang="fr-FR" sz="1200" dirty="0" smtClean="0"/>
              <a:t>3,23</a:t>
            </a:r>
            <a:endParaRPr lang="fr-FR" altLang="fr-FR" sz="1200" dirty="0"/>
          </a:p>
          <a:p>
            <a:pPr eaLnBrk="1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fr-FR" altLang="fr-FR" sz="1200" dirty="0"/>
              <a:t>   - </a:t>
            </a:r>
            <a:r>
              <a:rPr lang="fr-FR" altLang="fr-FR" sz="1200" dirty="0" smtClean="0"/>
              <a:t>diamètre </a:t>
            </a:r>
            <a:r>
              <a:rPr lang="fr-FR" altLang="fr-FR" sz="1200" dirty="0"/>
              <a:t>= 7</a:t>
            </a:r>
          </a:p>
        </p:txBody>
      </p:sp>
    </p:spTree>
    <p:extLst>
      <p:ext uri="{BB962C8B-B14F-4D97-AF65-F5344CB8AC3E}">
        <p14:creationId xmlns:p14="http://schemas.microsoft.com/office/powerpoint/2010/main" val="18220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dirty="0" smtClean="0"/>
              <a:t>Performances et sur-débits en </a:t>
            </a:r>
            <a:r>
              <a:rPr lang="fr-FR" sz="6000" dirty="0"/>
              <a:t>cas de </a:t>
            </a:r>
            <a:r>
              <a:rPr lang="fr-FR" sz="6000" dirty="0" smtClean="0"/>
              <a:t>rupture dans le réseau</a:t>
            </a:r>
            <a:endParaRPr lang="fr-FR" sz="60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08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 et sur-débits en cas de rupture dans le réseau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22</a:t>
            </a:fld>
            <a:endParaRPr lang="en-US" dirty="0"/>
          </a:p>
        </p:txBody>
      </p:sp>
      <p:sp>
        <p:nvSpPr>
          <p:cNvPr id="18" name="Espace réservé du contenu 6"/>
          <p:cNvSpPr>
            <a:spLocks noGrp="1"/>
          </p:cNvSpPr>
          <p:nvPr>
            <p:ph idx="1"/>
          </p:nvPr>
        </p:nvSpPr>
        <p:spPr>
          <a:xfrm>
            <a:off x="822959" y="2893883"/>
            <a:ext cx="7543801" cy="168540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fr-FR" sz="2800" dirty="0" smtClean="0"/>
              <a:t>Sous </a:t>
            </a:r>
            <a:r>
              <a:rPr lang="en-US" altLang="fr-FR" sz="2800" dirty="0" err="1" smtClean="0"/>
              <a:t>certaines</a:t>
            </a:r>
            <a:r>
              <a:rPr lang="en-US" altLang="fr-FR" sz="2800" dirty="0" smtClean="0"/>
              <a:t> conditions, </a:t>
            </a:r>
            <a:r>
              <a:rPr lang="en-US" altLang="fr-FR" sz="2800" dirty="0" err="1" smtClean="0"/>
              <a:t>plusieurs</a:t>
            </a:r>
            <a:r>
              <a:rPr lang="en-US" altLang="fr-FR" sz="2800" dirty="0" smtClean="0"/>
              <a:t> </a:t>
            </a:r>
            <a:r>
              <a:rPr lang="en-US" altLang="fr-FR" sz="2800" dirty="0" err="1" smtClean="0"/>
              <a:t>inondations</a:t>
            </a:r>
            <a:r>
              <a:rPr lang="en-US" altLang="fr-FR" sz="2800" dirty="0" smtClean="0"/>
              <a:t> </a:t>
            </a:r>
            <a:r>
              <a:rPr lang="en-US" altLang="fr-FR" sz="2800" dirty="0" err="1" smtClean="0"/>
              <a:t>peuvent</a:t>
            </a:r>
            <a:r>
              <a:rPr lang="en-US" altLang="fr-FR" sz="2800" dirty="0" smtClean="0"/>
              <a:t> </a:t>
            </a:r>
            <a:r>
              <a:rPr lang="en-US" altLang="fr-FR" sz="2800" dirty="0" err="1" smtClean="0"/>
              <a:t>avoir</a:t>
            </a:r>
            <a:r>
              <a:rPr lang="en-US" altLang="fr-FR" sz="2800" dirty="0" smtClean="0"/>
              <a:t> lieu </a:t>
            </a:r>
            <a:r>
              <a:rPr lang="en-US" altLang="fr-FR" sz="2800" dirty="0" err="1" smtClean="0"/>
              <a:t>simultanément</a:t>
            </a:r>
            <a:r>
              <a:rPr lang="en-US" altLang="fr-FR" sz="2800" dirty="0" smtClean="0"/>
              <a:t>, </a:t>
            </a:r>
            <a:r>
              <a:rPr lang="en-US" altLang="fr-FR" sz="2800" dirty="0" err="1" smtClean="0"/>
              <a:t>provoquant</a:t>
            </a:r>
            <a:r>
              <a:rPr lang="en-US" altLang="fr-FR" sz="2800" dirty="0" smtClean="0"/>
              <a:t> des pics de transmission au </a:t>
            </a:r>
            <a:r>
              <a:rPr lang="en-US" altLang="fr-FR" sz="2800" dirty="0" err="1" smtClean="0"/>
              <a:t>niveau</a:t>
            </a:r>
            <a:r>
              <a:rPr lang="en-US" altLang="fr-FR" sz="2800" dirty="0" smtClean="0"/>
              <a:t> des interfaces </a:t>
            </a:r>
            <a:r>
              <a:rPr lang="en-US" altLang="fr-FR" sz="2800" dirty="0" err="1" smtClean="0"/>
              <a:t>réseaux</a:t>
            </a:r>
            <a:r>
              <a:rPr lang="en-US" altLang="fr-FR" sz="2800" dirty="0" smtClean="0"/>
              <a:t> ( “bursts”)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fr-FR" sz="2800" dirty="0" smtClean="0"/>
              <a:t>Il </a:t>
            </a:r>
            <a:r>
              <a:rPr lang="en-US" altLang="fr-FR" sz="2800" dirty="0" err="1" smtClean="0"/>
              <a:t>faut</a:t>
            </a:r>
            <a:r>
              <a:rPr lang="en-US" altLang="fr-FR" sz="2800" dirty="0" smtClean="0"/>
              <a:t> quantifier </a:t>
            </a:r>
            <a:r>
              <a:rPr lang="en-US" altLang="fr-FR" sz="2800" dirty="0" err="1" smtClean="0"/>
              <a:t>l’impact</a:t>
            </a:r>
            <a:r>
              <a:rPr lang="en-US" altLang="fr-FR" sz="2800" dirty="0" smtClean="0"/>
              <a:t> du </a:t>
            </a:r>
            <a:r>
              <a:rPr lang="en-US" altLang="fr-FR" sz="2800" dirty="0" err="1" smtClean="0"/>
              <a:t>phénomène</a:t>
            </a:r>
            <a:endParaRPr lang="en-US" altLang="fr-FR" sz="28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fr-FR" sz="2400" dirty="0" smtClean="0"/>
          </a:p>
        </p:txBody>
      </p:sp>
      <p:sp>
        <p:nvSpPr>
          <p:cNvPr id="6" name="ZoneTexte 5"/>
          <p:cNvSpPr txBox="1"/>
          <p:nvPr/>
        </p:nvSpPr>
        <p:spPr>
          <a:xfrm>
            <a:off x="885216" y="2033081"/>
            <a:ext cx="7462089" cy="4247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lvl1pPr indent="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Chevauchement des processus de restauration</a:t>
            </a:r>
          </a:p>
        </p:txBody>
      </p:sp>
    </p:spTree>
    <p:extLst>
      <p:ext uri="{BB962C8B-B14F-4D97-AF65-F5344CB8AC3E}">
        <p14:creationId xmlns:p14="http://schemas.microsoft.com/office/powerpoint/2010/main" val="45360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 et sur-débits en cas de rupture dans le réseau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2959" y="2597150"/>
            <a:ext cx="7543801" cy="3481494"/>
          </a:xfrm>
        </p:spPr>
        <p:txBody>
          <a:bodyPr>
            <a:normAutofit/>
          </a:bodyPr>
          <a:lstStyle/>
          <a:p>
            <a:r>
              <a:rPr lang="fr-FR" dirty="0" smtClean="0"/>
              <a:t>Soient: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 Un </a:t>
            </a:r>
            <a:r>
              <a:rPr lang="fr-FR" b="1" dirty="0" smtClean="0"/>
              <a:t>temps d’inter-arrivé des services </a:t>
            </a:r>
            <a:r>
              <a:rPr lang="fr-FR" dirty="0" smtClean="0"/>
              <a:t>suivant une distribution exponentielle de taux </a:t>
            </a:r>
            <a:r>
              <a:rPr lang="fr-FR" i="1" dirty="0" smtClean="0"/>
              <a:t>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 La </a:t>
            </a:r>
            <a:r>
              <a:rPr lang="fr-FR" b="1" dirty="0" smtClean="0"/>
              <a:t>durée des services </a:t>
            </a:r>
            <a:r>
              <a:rPr lang="fr-FR" dirty="0" smtClean="0"/>
              <a:t>suivant une distribution exponentielle de taux </a:t>
            </a:r>
            <a:r>
              <a:rPr lang="el-GR" i="1" dirty="0" smtClean="0"/>
              <a:t>μ</a:t>
            </a:r>
            <a:endParaRPr lang="fr-FR" i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 La </a:t>
            </a:r>
            <a:r>
              <a:rPr lang="fr-FR" b="1" dirty="0" smtClean="0"/>
              <a:t>durée avant la panne </a:t>
            </a:r>
            <a:r>
              <a:rPr lang="fr-FR" dirty="0" smtClean="0"/>
              <a:t>d’un chemin suivant une loi exponentielle de taux </a:t>
            </a:r>
            <a:r>
              <a:rPr lang="el-GR" i="1" dirty="0" smtClean="0"/>
              <a:t>α</a:t>
            </a:r>
            <a:endParaRPr lang="fr-FR" i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51160" y="1862425"/>
            <a:ext cx="68873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cap="all" dirty="0" smtClean="0">
                <a:solidFill>
                  <a:schemeClr val="tx2"/>
                </a:solidFill>
              </a:rPr>
              <a:t>Modèle Markovien pour l’étude des ruptures du réseau</a:t>
            </a:r>
            <a:endParaRPr lang="fr-FR" sz="2000" cap="al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07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 et sur-débits en cas de rupture dans le réseau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554" y="4313035"/>
            <a:ext cx="4636610" cy="188165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822960" y="2298154"/>
            <a:ext cx="74066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smtClean="0"/>
              <a:t>On modélise le système à l’aide d’une chaîne de Markov X={X</a:t>
            </a:r>
            <a:r>
              <a:rPr lang="fr-FR" sz="2000" baseline="-25000" dirty="0" smtClean="0"/>
              <a:t>t</a:t>
            </a:r>
            <a:r>
              <a:rPr lang="fr-FR" sz="2000" dirty="0" smtClean="0"/>
              <a:t>,t≥0} sur l’espace d’états S = {(</a:t>
            </a:r>
            <a:r>
              <a:rPr lang="fr-FR" sz="2000" dirty="0" err="1" smtClean="0"/>
              <a:t>i,k</a:t>
            </a:r>
            <a:r>
              <a:rPr lang="fr-FR" sz="2000" dirty="0" smtClean="0"/>
              <a:t>)|i=0,…,n et k=0,1} pour tout n ≥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smtClean="0"/>
              <a:t>À un instant </a:t>
            </a:r>
            <a:r>
              <a:rPr lang="fr-FR" sz="2000" i="1" dirty="0" smtClean="0"/>
              <a:t>t</a:t>
            </a:r>
            <a:r>
              <a:rPr lang="fr-FR" sz="2000" dirty="0" smtClean="0"/>
              <a:t>, il y a </a:t>
            </a:r>
            <a:r>
              <a:rPr lang="fr-FR" sz="2000" i="1" dirty="0" smtClean="0"/>
              <a:t>i</a:t>
            </a:r>
            <a:r>
              <a:rPr lang="fr-FR" sz="2000" dirty="0" smtClean="0"/>
              <a:t> services dépendant du chemin et ce dernier est dans l’état </a:t>
            </a:r>
            <a:r>
              <a:rPr lang="fr-FR" sz="2000" i="1" dirty="0" smtClean="0"/>
              <a:t>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i="1" dirty="0"/>
              <a:t>k</a:t>
            </a:r>
            <a:r>
              <a:rPr lang="fr-FR" sz="2000" dirty="0" smtClean="0"/>
              <a:t>=1 indique que le chemin tandis que k=0 indique une rupture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smtClean="0"/>
              <a:t>Graphe de transitions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1151160" y="1862425"/>
            <a:ext cx="68873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cap="all" dirty="0" smtClean="0">
                <a:solidFill>
                  <a:schemeClr val="tx2"/>
                </a:solidFill>
              </a:rPr>
              <a:t>Modèle Markovien pour l’étude des ruptures du réseau</a:t>
            </a:r>
            <a:endParaRPr lang="fr-FR" sz="2000" cap="al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44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 et sur-débits en cas de rupture dans le réseau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25</a:t>
            </a:fld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1831315" y="5776084"/>
            <a:ext cx="5527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 smtClean="0"/>
              <a:t>Espérance des paquets transmis par lien et par jour</a:t>
            </a:r>
            <a:endParaRPr lang="fr-FR" sz="20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805" y="3299771"/>
            <a:ext cx="5108109" cy="2380478"/>
          </a:xfrm>
          <a:prstGeom prst="rect">
            <a:avLst/>
          </a:prstGeom>
        </p:spPr>
      </p:pic>
      <p:sp>
        <p:nvSpPr>
          <p:cNvPr id="11" name="Espace réservé du contenu 2"/>
          <p:cNvSpPr txBox="1">
            <a:spLocks/>
          </p:cNvSpPr>
          <p:nvPr/>
        </p:nvSpPr>
        <p:spPr>
          <a:xfrm>
            <a:off x="850903" y="2279083"/>
            <a:ext cx="7543799" cy="12906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b="1" dirty="0"/>
              <a:t>Espérance du nombre de services affectés par les ruptures du réseau au cours du </a:t>
            </a:r>
            <a:r>
              <a:rPr lang="fr-FR" b="1" dirty="0" smtClean="0"/>
              <a:t>temps</a:t>
            </a:r>
            <a:endParaRPr lang="fr-FR" altLang="fr-FR" dirty="0" smtClean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altLang="fr-FR" dirty="0" smtClean="0"/>
              <a:t>En </a:t>
            </a:r>
            <a:r>
              <a:rPr lang="fr-FR" altLang="fr-FR" dirty="0"/>
              <a:t>réutilisant notre estimation des paquets produits par les inondations</a:t>
            </a:r>
            <a:endParaRPr lang="fr-FR" altLang="fr-FR" i="1" dirty="0"/>
          </a:p>
          <a:p>
            <a:pPr>
              <a:buFont typeface="Arial" panose="020B0604020202020204" pitchFamily="34" charset="0"/>
              <a:buChar char="•"/>
            </a:pPr>
            <a:endParaRPr lang="fr-FR" altLang="fr-FR" i="1" dirty="0" smtClean="0"/>
          </a:p>
        </p:txBody>
      </p:sp>
      <p:sp>
        <p:nvSpPr>
          <p:cNvPr id="3" name="Rectangle à coins arrondis 2"/>
          <p:cNvSpPr/>
          <p:nvPr/>
        </p:nvSpPr>
        <p:spPr>
          <a:xfrm>
            <a:off x="6426200" y="4947985"/>
            <a:ext cx="722714" cy="7195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151160" y="1862425"/>
            <a:ext cx="68873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cap="all" dirty="0" smtClean="0">
                <a:solidFill>
                  <a:schemeClr val="tx2"/>
                </a:solidFill>
              </a:rPr>
              <a:t>Modèle Markovien pour l’étude des ruptures du réseau</a:t>
            </a:r>
            <a:endParaRPr lang="fr-FR" sz="2000" cap="al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65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dirty="0"/>
              <a:t>Performances et sur-débits en cas de rupture dans le réseau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19788" y="2823976"/>
            <a:ext cx="6978324" cy="2451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/>
              <a:t>Pour quantifier l’impact maximum, on observe </a:t>
            </a:r>
            <a:r>
              <a:rPr lang="fr-FR" sz="2400" dirty="0"/>
              <a:t>un </a:t>
            </a:r>
            <a:r>
              <a:rPr lang="fr-FR" sz="2400" dirty="0" err="1"/>
              <a:t>traffic</a:t>
            </a:r>
            <a:r>
              <a:rPr lang="fr-FR" sz="2400" dirty="0"/>
              <a:t> client établi sur un chemin </a:t>
            </a:r>
            <a:r>
              <a:rPr lang="fr-FR" sz="2400" dirty="0" smtClean="0"/>
              <a:t>lors </a:t>
            </a:r>
            <a:r>
              <a:rPr lang="fr-FR" sz="2400" dirty="0"/>
              <a:t>de la propagation </a:t>
            </a:r>
            <a:r>
              <a:rPr lang="fr-FR" sz="2400" dirty="0" smtClean="0"/>
              <a:t>de </a:t>
            </a:r>
            <a:r>
              <a:rPr lang="fr-FR" sz="2400" b="1" dirty="0"/>
              <a:t>N processus </a:t>
            </a:r>
            <a:r>
              <a:rPr lang="fr-FR" sz="2400" b="1" dirty="0" smtClean="0"/>
              <a:t>d’inondation simultanés</a:t>
            </a:r>
            <a:endParaRPr lang="fr-FR" sz="2400" b="1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47" y="2291367"/>
            <a:ext cx="4978692" cy="3436661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1119788" y="5659934"/>
            <a:ext cx="6996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Gigue (pire paquet) liée à la charge des files le long du chemin étudié</a:t>
            </a:r>
            <a:br>
              <a:rPr lang="fr-FR" dirty="0" smtClean="0"/>
            </a:br>
            <a:r>
              <a:rPr lang="fr-FR" dirty="0"/>
              <a:t>pour N inondations simultanées (liens de 1Gbps)</a:t>
            </a:r>
          </a:p>
          <a:p>
            <a:pPr algn="ctr"/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1082088" y="1807259"/>
            <a:ext cx="70160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000" cap="all" dirty="0" smtClean="0">
                <a:solidFill>
                  <a:schemeClr val="tx2"/>
                </a:solidFill>
              </a:rPr>
              <a:t>Étude de l’impact maximum des restaurations de chemins</a:t>
            </a:r>
            <a:endParaRPr lang="fr-FR" sz="2000" cap="al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66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Amélioration de la mise à l’échelle</a:t>
            </a:r>
            <a:endParaRPr lang="fr-FR" dirty="0"/>
          </a:p>
        </p:txBody>
      </p:sp>
      <p:pic>
        <p:nvPicPr>
          <p:cNvPr id="7" name="Espace réservé pour une image 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0" b="14490"/>
          <a:stretch>
            <a:fillRect/>
          </a:stretch>
        </p:blipFill>
        <p:spPr/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00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Motivations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2959" y="2351095"/>
            <a:ext cx="7543801" cy="330947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Les </a:t>
            </a:r>
            <a:r>
              <a:rPr lang="fr-FR" sz="2400" b="1" dirty="0"/>
              <a:t>sur-débits </a:t>
            </a:r>
            <a:r>
              <a:rPr lang="fr-FR" sz="2400" b="1" dirty="0" smtClean="0"/>
              <a:t>produits par </a:t>
            </a:r>
            <a:r>
              <a:rPr lang="fr-FR" sz="2400" b="1" dirty="0"/>
              <a:t>LOCARN </a:t>
            </a:r>
            <a:r>
              <a:rPr lang="fr-FR" sz="2400" b="1" dirty="0" smtClean="0"/>
              <a:t>sont linéairement </a:t>
            </a:r>
            <a:r>
              <a:rPr lang="fr-FR" sz="2400" b="1" dirty="0"/>
              <a:t>dépendants du nombre de </a:t>
            </a:r>
            <a:r>
              <a:rPr lang="fr-FR" sz="2400" b="1" dirty="0" smtClean="0"/>
              <a:t>services</a:t>
            </a:r>
            <a:endParaRPr lang="fr-FR" sz="24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 smtClean="0"/>
              <a:t>LOCARN </a:t>
            </a:r>
            <a:r>
              <a:rPr lang="fr-FR" sz="2400" dirty="0"/>
              <a:t>est « orienté vers les </a:t>
            </a:r>
            <a:r>
              <a:rPr lang="fr-FR" sz="2400" dirty="0" smtClean="0"/>
              <a:t>services</a:t>
            </a:r>
            <a:r>
              <a:rPr lang="fr-FR" sz="2400" dirty="0"/>
              <a:t> 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 smtClean="0"/>
              <a:t>Pour augmenter les capacités de mise à l’échelle, </a:t>
            </a:r>
            <a:r>
              <a:rPr lang="fr-FR" sz="2400" b="1" dirty="0" smtClean="0"/>
              <a:t>il faut </a:t>
            </a:r>
            <a:r>
              <a:rPr lang="fr-FR" sz="2400" b="1" dirty="0" err="1" smtClean="0"/>
              <a:t>décoréler</a:t>
            </a:r>
            <a:r>
              <a:rPr lang="fr-FR" sz="2400" b="1" dirty="0" smtClean="0"/>
              <a:t> </a:t>
            </a:r>
            <a:r>
              <a:rPr lang="fr-FR" sz="2400" b="1" dirty="0" smtClean="0"/>
              <a:t>les sur-débits produits du nombre de services</a:t>
            </a:r>
            <a:endParaRPr lang="fr-FR" sz="2400" b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1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Amélioration 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44309" y="2254209"/>
            <a:ext cx="7543801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u="sng" dirty="0" smtClean="0"/>
              <a:t>Constat</a:t>
            </a:r>
            <a:r>
              <a:rPr lang="fr-FR" sz="2400" dirty="0" smtClean="0"/>
              <a:t>: Il n’est pas nécessaire de déclencher plusieurs inondations pour découvrir les chemins des services provenant du même nœud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u="sng" dirty="0" smtClean="0"/>
              <a:t>Idée</a:t>
            </a:r>
            <a:r>
              <a:rPr lang="fr-FR" sz="2400" dirty="0" smtClean="0"/>
              <a:t>: Envoyer des inondations réalisant la découverte de plusieurs </a:t>
            </a:r>
            <a:r>
              <a:rPr lang="fr-FR" sz="2400" dirty="0" smtClean="0"/>
              <a:t>services </a:t>
            </a:r>
            <a:r>
              <a:rPr lang="fr-FR" sz="2400" dirty="0" smtClean="0"/>
              <a:t>à la fois (des « requêtes multi-services »)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u="sng" dirty="0" smtClean="0"/>
              <a:t>Conséquence</a:t>
            </a:r>
            <a:r>
              <a:rPr lang="fr-FR" sz="2400" dirty="0" smtClean="0"/>
              <a:t> : La </a:t>
            </a:r>
            <a:r>
              <a:rPr lang="fr-FR" sz="2400" dirty="0" smtClean="0"/>
              <a:t>taille </a:t>
            </a:r>
            <a:r>
              <a:rPr lang="fr-FR" sz="2400" dirty="0" smtClean="0"/>
              <a:t>des paquets de découverte augmente </a:t>
            </a:r>
            <a:r>
              <a:rPr lang="fr-FR" sz="2400" i="1" dirty="0" smtClean="0"/>
              <a:t>un peu</a:t>
            </a:r>
            <a:r>
              <a:rPr lang="fr-FR" sz="2400" dirty="0" smtClean="0"/>
              <a:t>, mais le nombre d’inondation diminue </a:t>
            </a:r>
            <a:r>
              <a:rPr lang="fr-FR" sz="2400" i="1" dirty="0" smtClean="0"/>
              <a:t>beaucoup</a:t>
            </a:r>
            <a:endParaRPr lang="fr-FR" sz="2400" i="1" dirty="0" smtClean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316" y="2266252"/>
            <a:ext cx="2853333" cy="153012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2416048" y="3858457"/>
            <a:ext cx="83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GEANT</a:t>
            </a:r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761" y="2266252"/>
            <a:ext cx="2853333" cy="152721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889" y="4407712"/>
            <a:ext cx="2853332" cy="1530127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5643751" y="3858457"/>
            <a:ext cx="1227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DTELECOM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4263202" y="5994496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LEVEL 3</a:t>
            </a:r>
            <a:endParaRPr lang="fr-FR" dirty="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29" y="2266252"/>
            <a:ext cx="4114263" cy="1278987"/>
          </a:xfrm>
          <a:prstGeom prst="rect">
            <a:avLst/>
          </a:prstGeom>
        </p:spPr>
      </p:pic>
      <p:sp>
        <p:nvSpPr>
          <p:cNvPr id="15" name="Espace réservé du texte 2"/>
          <p:cNvSpPr txBox="1">
            <a:spLocks/>
          </p:cNvSpPr>
          <p:nvPr/>
        </p:nvSpPr>
        <p:spPr>
          <a:xfrm>
            <a:off x="822960" y="1875867"/>
            <a:ext cx="4648788" cy="42724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cap="all" spc="200" dirty="0" smtClean="0">
                <a:solidFill>
                  <a:schemeClr val="tx2"/>
                </a:solidFill>
                <a:latin typeface="+mj-lt"/>
              </a:rPr>
              <a:t>Évaluation par simulation</a:t>
            </a:r>
            <a:endParaRPr lang="fr-FR" sz="2400" cap="all" spc="2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736" y="3754310"/>
            <a:ext cx="5014811" cy="22401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29" y="3793464"/>
            <a:ext cx="2785907" cy="2413782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1341996" y="3745512"/>
            <a:ext cx="158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Réseau GEANT</a:t>
            </a:r>
            <a:endParaRPr lang="fr-FR" b="1" dirty="0"/>
          </a:p>
        </p:txBody>
      </p:sp>
      <p:sp>
        <p:nvSpPr>
          <p:cNvPr id="17" name="ZoneTexte 16"/>
          <p:cNvSpPr txBox="1"/>
          <p:nvPr/>
        </p:nvSpPr>
        <p:spPr>
          <a:xfrm>
            <a:off x="5101821" y="3727269"/>
            <a:ext cx="164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Réseau LEVEL 3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9482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12" grpId="0"/>
      <p:bldP spid="13" grpId="0"/>
      <p:bldP spid="15" grpId="0"/>
      <p:bldP spid="16" grpId="0"/>
      <p:bldP spid="16" grpId="1"/>
      <p:bldP spid="17" grpId="0"/>
      <p:bldP spid="17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Amélioration 2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843810" y="2358927"/>
            <a:ext cx="7543801" cy="297507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b="1" u="sng" dirty="0" smtClean="0"/>
              <a:t>Constat</a:t>
            </a:r>
            <a:r>
              <a:rPr lang="fr-FR" dirty="0" smtClean="0"/>
              <a:t>: Quand depuis un même nœud, chaque service vérifie sont chemin, certains liens sont vérifiés plusieurs fois inutilement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u="sng" dirty="0" smtClean="0"/>
              <a:t>Idée</a:t>
            </a:r>
            <a:r>
              <a:rPr lang="fr-FR" dirty="0" smtClean="0"/>
              <a:t>: Mettre en place de l’auto-acheminement point-à-multipoint pour les paquets d’OAM :  (i) au niveau de la source les entêtes de paquets contiennent les informations d’acheminement via une structure d’arbre (</a:t>
            </a:r>
            <a:r>
              <a:rPr lang="fr-FR" dirty="0" err="1" smtClean="0"/>
              <a:t>n-aire</a:t>
            </a:r>
            <a:r>
              <a:rPr lang="fr-FR" dirty="0" smtClean="0"/>
              <a:t>) « aplatie » (ii) les paquets sont acheminés par duplication et/ou découpage de la structure jusqu’aux destinations.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u="sng" dirty="0" smtClean="0"/>
              <a:t>Conséquence</a:t>
            </a:r>
            <a:r>
              <a:rPr lang="fr-FR" dirty="0" smtClean="0"/>
              <a:t> : La taille des paquets d’OAM augmente tandis que leur quantité diminue</a:t>
            </a:r>
            <a:endParaRPr lang="fr-FR" i="1" dirty="0" smtClean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429" y="1762760"/>
            <a:ext cx="4471170" cy="420073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2175584" y="5965012"/>
            <a:ext cx="5448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Auto-acheminement point-à-multipoint sur un exemple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3407973" y="3304513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07973" y="3527338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89023" y="2853663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189023" y="3914443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8373" y="3914443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209955" y="2848752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193321" y="2848752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38373" y="2368372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364969" y="2368372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338372" y="3282427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26601" y="1953727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532950" y="2841265"/>
            <a:ext cx="3206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altLang="fr-FR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40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59259E-6 L 0.08611 -0.0689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6" y="-344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4.81481E-6 L 0.08541 0.0588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33333E-6 L 0.00487 -0.08542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" y="-4282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7037E-6 L 0.12848 -0.0004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24" y="-23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7.40741E-7 L 0.12708 -0.0671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54" y="-335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0.12361 0.06343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81" y="3171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33333E-6 L 0.12917 -0.06203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58" y="-3102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33333E-6 L 0.12847 0.06898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24" y="3449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0.07292 0.00277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46" y="13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6 L 0.0717 0.0004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76" y="23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0.00278 0.07361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" y="3681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81481E-6 L 0.00209 0.0775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3866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 animBg="1"/>
      <p:bldP spid="10" grpId="1" animBg="1"/>
      <p:bldP spid="10" grpId="2" animBg="1"/>
      <p:bldP spid="18" grpId="0" animBg="1"/>
      <p:bldP spid="18" grpId="1" animBg="1"/>
      <p:bldP spid="18" grpId="2" animBg="1"/>
      <p:bldP spid="24" grpId="0" animBg="1"/>
      <p:bldP spid="24" grpId="1" animBg="1"/>
      <p:bldP spid="25" grpId="0" animBg="1"/>
      <p:bldP spid="25" grpId="1" animBg="1"/>
      <p:bldP spid="25" grpId="2" animBg="1"/>
      <p:bldP spid="26" grpId="0" animBg="1"/>
      <p:bldP spid="26" grpId="1" animBg="1"/>
      <p:bldP spid="27" grpId="0" animBg="1"/>
      <p:bldP spid="27" grpId="1" animBg="1"/>
      <p:bldP spid="27" grpId="2" animBg="1"/>
      <p:bldP spid="27" grpId="3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Amélioration 2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31</a:t>
            </a:fld>
            <a:endParaRPr lang="en-US" dirty="0"/>
          </a:p>
        </p:txBody>
      </p:sp>
      <p:sp>
        <p:nvSpPr>
          <p:cNvPr id="10" name="Espace réservé du texte 2"/>
          <p:cNvSpPr txBox="1">
            <a:spLocks/>
          </p:cNvSpPr>
          <p:nvPr/>
        </p:nvSpPr>
        <p:spPr>
          <a:xfrm>
            <a:off x="635454" y="1899266"/>
            <a:ext cx="7962615" cy="42724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cap="all" spc="200" dirty="0" smtClean="0">
                <a:solidFill>
                  <a:schemeClr val="tx2"/>
                </a:solidFill>
                <a:latin typeface="+mj-lt"/>
              </a:rPr>
              <a:t>Résultats de simulation (Géant, mode éparse)</a:t>
            </a:r>
            <a:endParaRPr lang="fr-FR" sz="2400" cap="all" spc="2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806" y="2534152"/>
            <a:ext cx="3755446" cy="2638585"/>
          </a:xfrm>
          <a:prstGeom prst="rect">
            <a:avLst/>
          </a:prstGeom>
        </p:spPr>
      </p:pic>
      <p:sp>
        <p:nvSpPr>
          <p:cNvPr id="18" name="Espace réservé du texte 2"/>
          <p:cNvSpPr txBox="1">
            <a:spLocks/>
          </p:cNvSpPr>
          <p:nvPr/>
        </p:nvSpPr>
        <p:spPr>
          <a:xfrm>
            <a:off x="560221" y="1896977"/>
            <a:ext cx="7962615" cy="42724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cap="all" spc="200" dirty="0" smtClean="0">
                <a:solidFill>
                  <a:schemeClr val="tx2"/>
                </a:solidFill>
                <a:latin typeface="+mj-lt"/>
              </a:rPr>
              <a:t>Résultats de simulation (Géant, mode dense)</a:t>
            </a:r>
            <a:endParaRPr lang="fr-FR" sz="2400" cap="all" spc="2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90" y="2441847"/>
            <a:ext cx="3830339" cy="2730890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2304468" y="5378050"/>
            <a:ext cx="4474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chemeClr val="accent5"/>
                </a:solidFill>
              </a:rPr>
              <a:t>Le sur-débit lié à l’OAM est clairement </a:t>
            </a:r>
            <a:r>
              <a:rPr lang="fr-FR" b="1" dirty="0" err="1" smtClean="0">
                <a:solidFill>
                  <a:schemeClr val="accent5"/>
                </a:solidFill>
              </a:rPr>
              <a:t>décorélé</a:t>
            </a:r>
            <a:r>
              <a:rPr lang="fr-FR" b="1" dirty="0" smtClean="0">
                <a:solidFill>
                  <a:schemeClr val="accent5"/>
                </a:solidFill>
              </a:rPr>
              <a:t> </a:t>
            </a:r>
            <a:r>
              <a:rPr lang="fr-FR" b="1" dirty="0" smtClean="0">
                <a:solidFill>
                  <a:schemeClr val="accent5"/>
                </a:solidFill>
              </a:rPr>
              <a:t>du nombre de </a:t>
            </a:r>
            <a:r>
              <a:rPr lang="fr-FR" b="1" dirty="0" smtClean="0">
                <a:solidFill>
                  <a:schemeClr val="accent5"/>
                </a:solidFill>
              </a:rPr>
              <a:t>services</a:t>
            </a:r>
            <a:endParaRPr lang="fr-FR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24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Conclusions et perspectives</a:t>
            </a:r>
            <a:endParaRPr lang="fr-FR" dirty="0"/>
          </a:p>
        </p:txBody>
      </p:sp>
      <p:pic>
        <p:nvPicPr>
          <p:cNvPr id="7" name="Espace réservé pour une image 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1" b="8081"/>
          <a:stretch>
            <a:fillRect/>
          </a:stretch>
        </p:blipFill>
        <p:spPr/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10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Conclusions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822961" y="2144772"/>
            <a:ext cx="7543799" cy="389287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altLang="fr-FR" sz="2200" dirty="0" smtClean="0"/>
              <a:t>LOCARN est une architecture alternative pour les réseaux de transport. Elle établie des </a:t>
            </a:r>
            <a:r>
              <a:rPr lang="fr-FR" altLang="fr-FR" sz="2200" b="1" dirty="0" smtClean="0"/>
              <a:t>communications adaptatives </a:t>
            </a:r>
            <a:r>
              <a:rPr lang="fr-FR" altLang="fr-FR" sz="2200" dirty="0" smtClean="0"/>
              <a:t>et </a:t>
            </a:r>
            <a:r>
              <a:rPr lang="fr-FR" altLang="fr-FR" sz="2200" b="1" dirty="0" smtClean="0"/>
              <a:t>résilientes</a:t>
            </a:r>
            <a:r>
              <a:rPr lang="fr-FR" altLang="fr-FR" sz="2200" dirty="0" smtClean="0"/>
              <a:t> de façon très </a:t>
            </a:r>
            <a:r>
              <a:rPr lang="fr-FR" altLang="fr-FR" sz="2200" dirty="0" smtClean="0"/>
              <a:t>simple</a:t>
            </a:r>
            <a:endParaRPr lang="fr-FR" altLang="fr-FR" sz="2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altLang="fr-FR" sz="2200" dirty="0" smtClean="0"/>
              <a:t>Avec cette thèse, nous avons: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altLang="fr-FR" sz="2000" dirty="0" smtClean="0"/>
              <a:t>Démontré </a:t>
            </a:r>
            <a:r>
              <a:rPr lang="fr-FR" altLang="fr-FR" sz="2000" dirty="0" smtClean="0"/>
              <a:t>que LOCARN </a:t>
            </a:r>
            <a:r>
              <a:rPr lang="fr-FR" altLang="fr-FR" sz="2000" b="1" dirty="0" smtClean="0"/>
              <a:t>est capable d’établir des milliers de communications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altLang="fr-FR" sz="2000" b="1" dirty="0" smtClean="0"/>
              <a:t>Amélioré le design initial </a:t>
            </a:r>
            <a:r>
              <a:rPr lang="fr-FR" altLang="fr-FR" sz="2000" dirty="0" smtClean="0"/>
              <a:t>pour admettre </a:t>
            </a:r>
            <a:r>
              <a:rPr lang="fr-FR" altLang="fr-FR" sz="2000" b="1" dirty="0" smtClean="0"/>
              <a:t>des dizaines de milliers de services</a:t>
            </a:r>
            <a:r>
              <a:rPr lang="fr-FR" altLang="fr-FR" sz="2000" dirty="0" smtClean="0"/>
              <a:t>, augmentant ainsi les cas d’usages possibles. </a:t>
            </a:r>
            <a:r>
              <a:rPr lang="fr-FR" altLang="fr-FR" sz="2000" b="1" dirty="0" smtClean="0"/>
              <a:t>Des </a:t>
            </a:r>
            <a:r>
              <a:rPr lang="fr-FR" altLang="fr-FR" sz="2000" b="1" dirty="0" smtClean="0"/>
              <a:t>transmissions point-à-multipoint </a:t>
            </a:r>
            <a:r>
              <a:rPr lang="fr-FR" altLang="fr-FR" sz="2000" b="1" dirty="0" smtClean="0"/>
              <a:t>peuvent </a:t>
            </a:r>
            <a:r>
              <a:rPr lang="fr-FR" altLang="fr-FR" sz="2000" b="1" dirty="0" smtClean="0"/>
              <a:t>maintenant </a:t>
            </a:r>
            <a:r>
              <a:rPr lang="fr-FR" altLang="fr-FR" sz="2000" b="1" dirty="0" smtClean="0"/>
              <a:t>être établies </a:t>
            </a:r>
            <a:r>
              <a:rPr lang="fr-FR" altLang="fr-FR" sz="2000" dirty="0" smtClean="0"/>
              <a:t>(</a:t>
            </a:r>
            <a:r>
              <a:rPr lang="fr-FR" altLang="fr-FR" sz="2000" dirty="0" err="1" smtClean="0"/>
              <a:t>cf</a:t>
            </a:r>
            <a:r>
              <a:rPr lang="fr-FR" altLang="fr-FR" sz="2000" dirty="0" smtClean="0"/>
              <a:t> proposition </a:t>
            </a:r>
            <a:r>
              <a:rPr lang="fr-FR" altLang="fr-FR" sz="2000" dirty="0" smtClean="0"/>
              <a:t>2)</a:t>
            </a:r>
          </a:p>
          <a:p>
            <a:pPr>
              <a:buFont typeface="Arial" panose="020B0604020202020204" pitchFamily="34" charset="0"/>
              <a:buChar char="•"/>
            </a:pPr>
            <a:endParaRPr lang="fr-FR" altLang="fr-FR" sz="2200" dirty="0" smtClean="0"/>
          </a:p>
        </p:txBody>
      </p:sp>
    </p:spTree>
    <p:extLst>
      <p:ext uri="{BB962C8B-B14F-4D97-AF65-F5344CB8AC3E}">
        <p14:creationId xmlns:p14="http://schemas.microsoft.com/office/powerpoint/2010/main" val="146007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Perspectives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2959" y="2281163"/>
            <a:ext cx="7543801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La voie est ouverte pour des implémentations futures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Les industriels trouvent moins d’intérêts à LOCARN que les opérateurs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Perspectives intéressantes d’application pour les </a:t>
            </a:r>
            <a:r>
              <a:rPr lang="fr-FR" sz="2400" b="1" dirty="0" smtClean="0"/>
              <a:t>Data </a:t>
            </a:r>
            <a:r>
              <a:rPr lang="fr-FR" sz="2400" b="1" dirty="0" err="1" smtClean="0"/>
              <a:t>Centers</a:t>
            </a: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Futures études possibles sur la collaboration LOCARN/SDN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58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975360" y="1868972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Merci de votre attention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997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324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36</a:t>
            </a:fld>
            <a:endParaRPr lang="en-US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696523" y="2875424"/>
            <a:ext cx="75438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Annexes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657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Publications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2959" y="2209147"/>
            <a:ext cx="7543801" cy="148362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fr-FR" sz="1800" dirty="0"/>
              <a:t>D. Le </a:t>
            </a:r>
            <a:r>
              <a:rPr lang="fr-FR" sz="1800" dirty="0" err="1"/>
              <a:t>Quere</a:t>
            </a:r>
            <a:r>
              <a:rPr lang="fr-FR" sz="1800" dirty="0"/>
              <a:t>, C. </a:t>
            </a:r>
            <a:r>
              <a:rPr lang="fr-FR" sz="1800" dirty="0" err="1"/>
              <a:t>Betoule</a:t>
            </a:r>
            <a:r>
              <a:rPr lang="fr-FR" sz="1800" dirty="0"/>
              <a:t>, R. Clavier, Y. </a:t>
            </a:r>
            <a:r>
              <a:rPr lang="fr-FR" sz="1800" dirty="0" err="1"/>
              <a:t>Hadjadj</a:t>
            </a:r>
            <a:r>
              <a:rPr lang="fr-FR" sz="1800" dirty="0"/>
              <a:t>-Aoul, A </a:t>
            </a:r>
            <a:r>
              <a:rPr lang="fr-FR" sz="1800" dirty="0" err="1"/>
              <a:t>Ksentini</a:t>
            </a:r>
            <a:r>
              <a:rPr lang="fr-FR" sz="1800" dirty="0"/>
              <a:t>, and G. </a:t>
            </a:r>
            <a:r>
              <a:rPr lang="fr-FR" sz="1800" dirty="0" err="1"/>
              <a:t>Thouenon</a:t>
            </a:r>
            <a:r>
              <a:rPr lang="fr-FR" sz="1800" dirty="0"/>
              <a:t>. « </a:t>
            </a:r>
            <a:r>
              <a:rPr lang="fr-FR" sz="1800" dirty="0" err="1"/>
              <a:t>Scalability</a:t>
            </a:r>
            <a:r>
              <a:rPr lang="fr-FR" sz="1800" dirty="0"/>
              <a:t> &amp; performances </a:t>
            </a:r>
            <a:r>
              <a:rPr lang="fr-FR" sz="1800" dirty="0" err="1"/>
              <a:t>evaluation</a:t>
            </a:r>
            <a:r>
              <a:rPr lang="fr-FR" sz="1800" dirty="0"/>
              <a:t> of LOCARN: </a:t>
            </a:r>
            <a:r>
              <a:rPr lang="fr-FR" sz="1800" dirty="0" err="1"/>
              <a:t>Low</a:t>
            </a:r>
            <a:r>
              <a:rPr lang="fr-FR" sz="1800" dirty="0"/>
              <a:t> </a:t>
            </a:r>
            <a:r>
              <a:rPr lang="fr-FR" sz="1800" dirty="0" err="1"/>
              <a:t>opex</a:t>
            </a:r>
            <a:r>
              <a:rPr lang="fr-FR" sz="1800" dirty="0"/>
              <a:t> and </a:t>
            </a:r>
            <a:r>
              <a:rPr lang="fr-FR" sz="1800" dirty="0" err="1"/>
              <a:t>capex</a:t>
            </a:r>
            <a:r>
              <a:rPr lang="fr-FR" sz="1800" dirty="0"/>
              <a:t> architecture for </a:t>
            </a:r>
            <a:r>
              <a:rPr lang="fr-FR" sz="1800" dirty="0" err="1"/>
              <a:t>resilient</a:t>
            </a:r>
            <a:r>
              <a:rPr lang="fr-FR" sz="1800" dirty="0"/>
              <a:t> networks ». In </a:t>
            </a:r>
            <a:r>
              <a:rPr lang="fr-FR" sz="1800" u="sng" dirty="0"/>
              <a:t>Innovations for </a:t>
            </a:r>
            <a:r>
              <a:rPr lang="fr-FR" sz="1800" u="sng" dirty="0" err="1"/>
              <a:t>Community</a:t>
            </a:r>
            <a:r>
              <a:rPr lang="fr-FR" sz="1800" u="sng" dirty="0"/>
              <a:t> Services (I4CS 2014)</a:t>
            </a:r>
            <a:r>
              <a:rPr lang="fr-FR" sz="1800" dirty="0"/>
              <a:t>, 14th International </a:t>
            </a:r>
            <a:r>
              <a:rPr lang="fr-FR" sz="1800" dirty="0" err="1"/>
              <a:t>Conference</a:t>
            </a:r>
            <a:r>
              <a:rPr lang="fr-FR" sz="1800" dirty="0"/>
              <a:t>, pages 1–8 (</a:t>
            </a:r>
            <a:r>
              <a:rPr lang="fr-FR" sz="1800" dirty="0" err="1"/>
              <a:t>June</a:t>
            </a:r>
            <a:r>
              <a:rPr lang="fr-FR" sz="1800" dirty="0"/>
              <a:t> 2014, Reims, France). </a:t>
            </a:r>
            <a:r>
              <a:rPr lang="fr-FR" sz="1800" b="1" i="1" dirty="0"/>
              <a:t>Article élu « </a:t>
            </a:r>
            <a:r>
              <a:rPr lang="fr-FR" sz="1800" b="1" i="1" dirty="0" smtClean="0"/>
              <a:t>Best </a:t>
            </a:r>
            <a:r>
              <a:rPr lang="fr-FR" sz="1800" b="1" i="1" dirty="0"/>
              <a:t>Paper </a:t>
            </a:r>
            <a:r>
              <a:rPr lang="fr-FR" sz="1800" b="1" i="1" dirty="0" err="1"/>
              <a:t>Award</a:t>
            </a:r>
            <a:r>
              <a:rPr lang="fr-FR" sz="1800" b="1" i="1" dirty="0"/>
              <a:t> » de la </a:t>
            </a:r>
            <a:r>
              <a:rPr lang="fr-FR" sz="1800" b="1" i="1" dirty="0" smtClean="0"/>
              <a:t>conférence</a:t>
            </a:r>
            <a:r>
              <a:rPr lang="fr-FR" sz="1800" dirty="0" smtClean="0"/>
              <a:t>.</a:t>
            </a:r>
            <a:endParaRPr lang="fr-FR" sz="18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776068" y="3858096"/>
            <a:ext cx="7543801" cy="14836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fr-FR" sz="1800" dirty="0"/>
              <a:t>D. Le </a:t>
            </a:r>
            <a:r>
              <a:rPr lang="fr-FR" sz="1800" dirty="0" err="1"/>
              <a:t>Quere</a:t>
            </a:r>
            <a:r>
              <a:rPr lang="fr-FR" sz="1800" dirty="0"/>
              <a:t>, C. </a:t>
            </a:r>
            <a:r>
              <a:rPr lang="fr-FR" sz="1800" dirty="0" err="1"/>
              <a:t>Betoule</a:t>
            </a:r>
            <a:r>
              <a:rPr lang="fr-FR" sz="1800" dirty="0"/>
              <a:t>, R. Clavier, Y. </a:t>
            </a:r>
            <a:r>
              <a:rPr lang="fr-FR" sz="1800" dirty="0" err="1"/>
              <a:t>Hadjadj</a:t>
            </a:r>
            <a:r>
              <a:rPr lang="fr-FR" sz="1800" dirty="0"/>
              <a:t>-Aoul, A. </a:t>
            </a:r>
            <a:r>
              <a:rPr lang="fr-FR" sz="1800" dirty="0" err="1"/>
              <a:t>Ksentini</a:t>
            </a:r>
            <a:r>
              <a:rPr lang="fr-FR" sz="1800" dirty="0"/>
              <a:t>, and G. </a:t>
            </a:r>
            <a:r>
              <a:rPr lang="fr-FR" sz="1800" dirty="0" err="1"/>
              <a:t>Thouenon</a:t>
            </a:r>
            <a:r>
              <a:rPr lang="fr-FR" sz="1800" dirty="0"/>
              <a:t>. « </a:t>
            </a:r>
            <a:r>
              <a:rPr lang="fr-FR" sz="1800" dirty="0" err="1"/>
              <a:t>Presentation</a:t>
            </a:r>
            <a:r>
              <a:rPr lang="fr-FR" sz="1800" dirty="0"/>
              <a:t> &amp; </a:t>
            </a:r>
            <a:r>
              <a:rPr lang="fr-FR" sz="1800" dirty="0" err="1"/>
              <a:t>evaluation</a:t>
            </a:r>
            <a:r>
              <a:rPr lang="fr-FR" sz="1800" dirty="0"/>
              <a:t> of LOCARN: </a:t>
            </a:r>
            <a:r>
              <a:rPr lang="fr-FR" sz="1800" dirty="0" err="1"/>
              <a:t>Low</a:t>
            </a:r>
            <a:r>
              <a:rPr lang="fr-FR" sz="1800" dirty="0"/>
              <a:t> </a:t>
            </a:r>
            <a:r>
              <a:rPr lang="fr-FR" sz="1800" dirty="0" err="1"/>
              <a:t>opex</a:t>
            </a:r>
            <a:r>
              <a:rPr lang="fr-FR" sz="1800" dirty="0"/>
              <a:t> and </a:t>
            </a:r>
            <a:r>
              <a:rPr lang="fr-FR" sz="1800" dirty="0" err="1"/>
              <a:t>capex</a:t>
            </a:r>
            <a:r>
              <a:rPr lang="fr-FR" sz="1800" dirty="0"/>
              <a:t> architecture for </a:t>
            </a:r>
            <a:r>
              <a:rPr lang="fr-FR" sz="1800" dirty="0" err="1"/>
              <a:t>resilient</a:t>
            </a:r>
            <a:r>
              <a:rPr lang="fr-FR" sz="1800" dirty="0"/>
              <a:t> networks ». </a:t>
            </a:r>
            <a:r>
              <a:rPr lang="fr-FR" sz="1800" u="sng" dirty="0" err="1"/>
              <a:t>Studia</a:t>
            </a:r>
            <a:r>
              <a:rPr lang="fr-FR" sz="1800" u="sng" dirty="0"/>
              <a:t> </a:t>
            </a:r>
            <a:r>
              <a:rPr lang="fr-FR" sz="1800" u="sng" dirty="0" err="1"/>
              <a:t>Informatica</a:t>
            </a:r>
            <a:r>
              <a:rPr lang="fr-FR" sz="1800" u="sng" dirty="0"/>
              <a:t> </a:t>
            </a:r>
            <a:r>
              <a:rPr lang="fr-FR" sz="1800" u="sng" dirty="0" err="1"/>
              <a:t>Universalis</a:t>
            </a:r>
            <a:r>
              <a:rPr lang="fr-FR" sz="1800" dirty="0"/>
              <a:t>, pages 74-104 (12 </a:t>
            </a:r>
            <a:r>
              <a:rPr lang="fr-FR" sz="1800" dirty="0" err="1"/>
              <a:t>June</a:t>
            </a:r>
            <a:r>
              <a:rPr lang="fr-FR" sz="1800" dirty="0"/>
              <a:t> 2014). 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776067" y="1839815"/>
            <a:ext cx="275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smtClean="0"/>
              <a:t>Conférence internationale :</a:t>
            </a:r>
            <a:endParaRPr lang="fr-FR" i="1" dirty="0"/>
          </a:p>
        </p:txBody>
      </p:sp>
      <p:sp>
        <p:nvSpPr>
          <p:cNvPr id="8" name="ZoneTexte 7"/>
          <p:cNvSpPr txBox="1"/>
          <p:nvPr/>
        </p:nvSpPr>
        <p:spPr>
          <a:xfrm>
            <a:off x="822959" y="3516361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smtClean="0"/>
              <a:t>Journal :</a:t>
            </a:r>
            <a:endParaRPr lang="fr-FR" i="1" dirty="0"/>
          </a:p>
        </p:txBody>
      </p:sp>
      <p:sp>
        <p:nvSpPr>
          <p:cNvPr id="9" name="ZoneTexte 8"/>
          <p:cNvSpPr txBox="1"/>
          <p:nvPr/>
        </p:nvSpPr>
        <p:spPr>
          <a:xfrm>
            <a:off x="776066" y="4925018"/>
            <a:ext cx="246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smtClean="0"/>
              <a:t>Workshop international:</a:t>
            </a:r>
            <a:endParaRPr lang="fr-FR" i="1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776067" y="5264363"/>
            <a:ext cx="7543801" cy="14836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fr-FR" sz="1800" dirty="0"/>
              <a:t>D. Le </a:t>
            </a:r>
            <a:r>
              <a:rPr lang="fr-FR" sz="1800" dirty="0" err="1"/>
              <a:t>Quere</a:t>
            </a:r>
            <a:r>
              <a:rPr lang="fr-FR" sz="1800" dirty="0"/>
              <a:t>, C. </a:t>
            </a:r>
            <a:r>
              <a:rPr lang="fr-FR" sz="1800" dirty="0" err="1"/>
              <a:t>Betoule</a:t>
            </a:r>
            <a:r>
              <a:rPr lang="fr-FR" sz="1800" dirty="0"/>
              <a:t>, R. Clavier, Y. </a:t>
            </a:r>
            <a:r>
              <a:rPr lang="fr-FR" sz="1800" dirty="0" err="1"/>
              <a:t>Hadjadj</a:t>
            </a:r>
            <a:r>
              <a:rPr lang="fr-FR" sz="1800" dirty="0"/>
              <a:t>-Aoul, A. </a:t>
            </a:r>
            <a:r>
              <a:rPr lang="fr-FR" sz="1800" dirty="0" err="1"/>
              <a:t>Ksentini</a:t>
            </a:r>
            <a:r>
              <a:rPr lang="fr-FR" sz="1800" dirty="0"/>
              <a:t>, and G. </a:t>
            </a:r>
            <a:r>
              <a:rPr lang="fr-FR" sz="1800" dirty="0" err="1"/>
              <a:t>Thouenon</a:t>
            </a:r>
            <a:r>
              <a:rPr lang="fr-FR" sz="1800" dirty="0"/>
              <a:t>. « </a:t>
            </a:r>
            <a:r>
              <a:rPr lang="fr-FR" sz="1800" dirty="0" err="1"/>
              <a:t>Towards</a:t>
            </a:r>
            <a:r>
              <a:rPr lang="fr-FR" sz="1800" dirty="0"/>
              <a:t> a Large </a:t>
            </a:r>
            <a:r>
              <a:rPr lang="fr-FR" sz="1800" dirty="0" err="1"/>
              <a:t>Scale</a:t>
            </a:r>
            <a:r>
              <a:rPr lang="fr-FR" sz="1800" dirty="0"/>
              <a:t> LOCARN ». </a:t>
            </a:r>
            <a:r>
              <a:rPr lang="fr-FR" sz="1800" u="sng" dirty="0"/>
              <a:t>IEEE </a:t>
            </a:r>
            <a:r>
              <a:rPr lang="fr-FR" sz="1800" u="sng" dirty="0" err="1"/>
              <a:t>Globecom</a:t>
            </a:r>
            <a:r>
              <a:rPr lang="fr-FR" sz="1800" u="sng" dirty="0"/>
              <a:t> Workshop on </a:t>
            </a:r>
            <a:r>
              <a:rPr lang="fr-FR" sz="1800" u="sng" dirty="0" err="1"/>
              <a:t>Research</a:t>
            </a:r>
            <a:r>
              <a:rPr lang="fr-FR" sz="1800" u="sng" dirty="0"/>
              <a:t> and Standards</a:t>
            </a:r>
            <a:r>
              <a:rPr lang="fr-FR" sz="1800" dirty="0"/>
              <a:t> (</a:t>
            </a:r>
            <a:r>
              <a:rPr lang="fr-FR" sz="1800" dirty="0" err="1"/>
              <a:t>Dec</a:t>
            </a:r>
            <a:r>
              <a:rPr lang="fr-FR" sz="1800" dirty="0"/>
              <a:t> 2014, Austin, United States).</a:t>
            </a:r>
          </a:p>
        </p:txBody>
      </p:sp>
    </p:spTree>
    <p:extLst>
      <p:ext uri="{BB962C8B-B14F-4D97-AF65-F5344CB8AC3E}">
        <p14:creationId xmlns:p14="http://schemas.microsoft.com/office/powerpoint/2010/main" val="197867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Positionnement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38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404" y="3147069"/>
            <a:ext cx="4530080" cy="256986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2200404" y="2057466"/>
            <a:ext cx="5035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cap="all" dirty="0">
                <a:solidFill>
                  <a:schemeClr val="tx2"/>
                </a:solidFill>
              </a:rPr>
              <a:t>Meilleur position de LOCARN en tant </a:t>
            </a:r>
            <a:r>
              <a:rPr lang="fr-FR" sz="2000" cap="all" dirty="0" smtClean="0">
                <a:solidFill>
                  <a:schemeClr val="tx2"/>
                </a:solidFill>
              </a:rPr>
              <a:t>que</a:t>
            </a:r>
            <a:br>
              <a:rPr lang="fr-FR" sz="2000" cap="all" dirty="0" smtClean="0">
                <a:solidFill>
                  <a:schemeClr val="tx2"/>
                </a:solidFill>
              </a:rPr>
            </a:br>
            <a:r>
              <a:rPr lang="fr-FR" sz="2000" cap="all" dirty="0" smtClean="0">
                <a:solidFill>
                  <a:schemeClr val="tx2"/>
                </a:solidFill>
              </a:rPr>
              <a:t>technologie </a:t>
            </a:r>
            <a:r>
              <a:rPr lang="fr-FR" sz="2000" cap="all" dirty="0">
                <a:solidFill>
                  <a:schemeClr val="tx2"/>
                </a:solidFill>
              </a:rPr>
              <a:t>de transport paquet</a:t>
            </a:r>
          </a:p>
        </p:txBody>
      </p:sp>
    </p:spTree>
    <p:extLst>
      <p:ext uri="{BB962C8B-B14F-4D97-AF65-F5344CB8AC3E}">
        <p14:creationId xmlns:p14="http://schemas.microsoft.com/office/powerpoint/2010/main" val="318926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LOCARN et (G)MPLS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39</a:t>
            </a:fld>
            <a:endParaRPr lang="en-US" dirty="0"/>
          </a:p>
        </p:txBody>
      </p:sp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351856"/>
              </p:ext>
            </p:extLst>
          </p:nvPr>
        </p:nvGraphicFramePr>
        <p:xfrm>
          <a:off x="621323" y="2377828"/>
          <a:ext cx="7745437" cy="2962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194"/>
                <a:gridCol w="2765792"/>
                <a:gridCol w="2981451"/>
              </a:tblGrid>
              <a:tr h="517490">
                <a:tc>
                  <a:txBody>
                    <a:bodyPr/>
                    <a:lstStyle/>
                    <a:p>
                      <a:pPr algn="r"/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LOCARN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(G)MPLS Standards</a:t>
                      </a:r>
                      <a:endParaRPr lang="fr-FR" dirty="0"/>
                    </a:p>
                  </a:txBody>
                  <a:tcPr/>
                </a:tc>
              </a:tr>
              <a:tr h="524678">
                <a:tc>
                  <a:txBody>
                    <a:bodyPr/>
                    <a:lstStyle/>
                    <a:p>
                      <a:pPr algn="r"/>
                      <a:r>
                        <a:rPr lang="fr-FR" b="0" i="1" dirty="0" smtClean="0"/>
                        <a:t>Découverte de Topologie</a:t>
                      </a:r>
                      <a:endParaRPr lang="fr-FR" b="0" i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Source </a:t>
                      </a:r>
                      <a:r>
                        <a:rPr lang="fr-FR" dirty="0" err="1" smtClean="0"/>
                        <a:t>routing</a:t>
                      </a:r>
                      <a:r>
                        <a:rPr lang="fr-FR" dirty="0" smtClean="0"/>
                        <a:t>, Inondations périodiques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Protocoles</a:t>
                      </a:r>
                      <a:r>
                        <a:rPr lang="fr-FR" baseline="0" dirty="0" smtClean="0"/>
                        <a:t> de routage par état des liens (ISIS-TE)</a:t>
                      </a:r>
                      <a:endParaRPr lang="fr-FR" dirty="0"/>
                    </a:p>
                  </a:txBody>
                  <a:tcPr/>
                </a:tc>
              </a:tr>
              <a:tr h="524678">
                <a:tc>
                  <a:txBody>
                    <a:bodyPr/>
                    <a:lstStyle/>
                    <a:p>
                      <a:pPr algn="r"/>
                      <a:r>
                        <a:rPr lang="fr-FR" b="0" i="1" dirty="0" smtClean="0"/>
                        <a:t>Etablissement de</a:t>
                      </a:r>
                      <a:r>
                        <a:rPr lang="fr-FR" b="0" i="1" baseline="0" dirty="0" smtClean="0"/>
                        <a:t> connectivité</a:t>
                      </a:r>
                      <a:endParaRPr lang="fr-FR" b="0" i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N.A.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Signalisations pour établir </a:t>
                      </a:r>
                      <a:r>
                        <a:rPr lang="fr-FR" dirty="0" err="1" smtClean="0"/>
                        <a:t>LSPs</a:t>
                      </a:r>
                      <a:r>
                        <a:rPr lang="fr-FR" baseline="0" dirty="0" smtClean="0"/>
                        <a:t> : LDP, RSVP-TE</a:t>
                      </a:r>
                      <a:endParaRPr lang="fr-FR" dirty="0"/>
                    </a:p>
                  </a:txBody>
                  <a:tcPr/>
                </a:tc>
              </a:tr>
              <a:tr h="524678">
                <a:tc>
                  <a:txBody>
                    <a:bodyPr/>
                    <a:lstStyle/>
                    <a:p>
                      <a:pPr algn="r"/>
                      <a:r>
                        <a:rPr lang="fr-FR" b="0" i="1" dirty="0" smtClean="0"/>
                        <a:t>Détection</a:t>
                      </a:r>
                      <a:r>
                        <a:rPr lang="fr-FR" b="0" i="1" baseline="0" dirty="0" smtClean="0"/>
                        <a:t> de rupture</a:t>
                      </a:r>
                      <a:endParaRPr lang="fr-FR" b="0" i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Détection</a:t>
                      </a:r>
                      <a:r>
                        <a:rPr lang="fr-FR" baseline="0" dirty="0" smtClean="0"/>
                        <a:t> de bout en bout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Détection</a:t>
                      </a:r>
                      <a:r>
                        <a:rPr lang="fr-FR" baseline="0" dirty="0" smtClean="0"/>
                        <a:t> locale (BFD)</a:t>
                      </a:r>
                    </a:p>
                    <a:p>
                      <a:pPr algn="ctr"/>
                      <a:r>
                        <a:rPr lang="fr-FR" baseline="0" dirty="0" smtClean="0"/>
                        <a:t>De bout en bout (LMP)</a:t>
                      </a:r>
                      <a:endParaRPr lang="fr-FR" dirty="0"/>
                    </a:p>
                  </a:txBody>
                  <a:tcPr/>
                </a:tc>
              </a:tr>
              <a:tr h="524678">
                <a:tc>
                  <a:txBody>
                    <a:bodyPr/>
                    <a:lstStyle/>
                    <a:p>
                      <a:pPr algn="r"/>
                      <a:r>
                        <a:rPr lang="fr-FR" b="0" i="1" dirty="0" smtClean="0"/>
                        <a:t>Restauration</a:t>
                      </a:r>
                      <a:endParaRPr lang="fr-FR" b="0" i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Réactive, de bout en bout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Proactive, locale</a:t>
                      </a:r>
                      <a:r>
                        <a:rPr lang="fr-FR" baseline="0" dirty="0" smtClean="0"/>
                        <a:t> (FRR)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52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Application numérique sur des profils topologiques diverses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Image 16" descr="net_profile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68" y="2791196"/>
            <a:ext cx="4345777" cy="1916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17" descr="m_flood_profile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2" y="2702205"/>
            <a:ext cx="4010335" cy="238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lèche vers le bas 7"/>
          <p:cNvSpPr/>
          <p:nvPr/>
        </p:nvSpPr>
        <p:spPr>
          <a:xfrm rot="16200000">
            <a:off x="4234498" y="3925815"/>
            <a:ext cx="720725" cy="368300"/>
          </a:xfrm>
          <a:prstGeom prst="downArrow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06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Amélioration 2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66827" y="3226724"/>
            <a:ext cx="1292087" cy="467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mtClean="0"/>
              <a:t>FWD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132371" y="3263660"/>
            <a:ext cx="1406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smtClean="0"/>
              <a:t>FWD Code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4462227" y="3226724"/>
            <a:ext cx="1292087" cy="467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mtClean="0"/>
              <a:t>FWD</a:t>
            </a:r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4465871" y="3263660"/>
            <a:ext cx="1261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mtClean="0"/>
              <a:t>FWD Port</a:t>
            </a:r>
            <a:endParaRPr lang="fr-FR"/>
          </a:p>
        </p:txBody>
      </p:sp>
      <p:sp>
        <p:nvSpPr>
          <p:cNvPr id="10" name="Accolade ouvrante 9"/>
          <p:cNvSpPr/>
          <p:nvPr/>
        </p:nvSpPr>
        <p:spPr>
          <a:xfrm rot="5400000">
            <a:off x="3680555" y="2423437"/>
            <a:ext cx="285750" cy="12477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ccolade ouvrante 10"/>
          <p:cNvSpPr/>
          <p:nvPr/>
        </p:nvSpPr>
        <p:spPr>
          <a:xfrm rot="5400000">
            <a:off x="4985480" y="2423437"/>
            <a:ext cx="285750" cy="12477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3380518" y="2456772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/>
              <a:t>1octet</a:t>
            </a:r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4590193" y="2456772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/>
              <a:t>1octet</a:t>
            </a:r>
            <a:endParaRPr lang="fr-FR"/>
          </a:p>
        </p:txBody>
      </p:sp>
      <p:sp>
        <p:nvSpPr>
          <p:cNvPr id="22" name="Espace réservé du texte 2"/>
          <p:cNvSpPr txBox="1">
            <a:spLocks noGrp="1"/>
          </p:cNvSpPr>
          <p:nvPr>
            <p:ph idx="1"/>
          </p:nvPr>
        </p:nvSpPr>
        <p:spPr>
          <a:xfrm>
            <a:off x="822959" y="1845734"/>
            <a:ext cx="7543801" cy="205016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cap="all" spc="200" dirty="0" smtClean="0">
                <a:solidFill>
                  <a:schemeClr val="tx2"/>
                </a:solidFill>
                <a:latin typeface="+mj-lt"/>
              </a:rPr>
              <a:t>Algorithme d’auto-acheminement point à multipoint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FWD Code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FWD Code &gt; 0</a:t>
            </a: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cap="all" spc="200" dirty="0" smtClean="0">
              <a:solidFill>
                <a:schemeClr val="tx2"/>
              </a:solidFill>
              <a:latin typeface="+mj-lt"/>
            </a:endParaRPr>
          </a:p>
          <a:p>
            <a:endParaRPr lang="fr-FR" sz="2400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3" name="Flèche vers le bas 22"/>
          <p:cNvSpPr/>
          <p:nvPr/>
        </p:nvSpPr>
        <p:spPr>
          <a:xfrm rot="16200000">
            <a:off x="3173316" y="4062981"/>
            <a:ext cx="360184" cy="656424"/>
          </a:xfrm>
          <a:prstGeom prst="downArrow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24" name="Flèche vers le bas 23"/>
          <p:cNvSpPr/>
          <p:nvPr/>
        </p:nvSpPr>
        <p:spPr>
          <a:xfrm rot="17229326">
            <a:off x="3214227" y="4815078"/>
            <a:ext cx="360184" cy="661433"/>
          </a:xfrm>
          <a:prstGeom prst="downArrow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Helvetica 45 Ligh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Helvetica 45 Light" pitchFamily="34" charset="0"/>
              </a:defRPr>
            </a:lvl9pPr>
          </a:lstStyle>
          <a:p>
            <a:pPr algn="ctr" eaLnBrk="1" hangingPunct="1">
              <a:defRPr/>
            </a:pPr>
            <a:endParaRPr lang="fr-FR" altLang="fr-FR" smtClean="0">
              <a:solidFill>
                <a:srgbClr val="FFFFFF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3964670" y="4080276"/>
            <a:ext cx="4430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Faire suivre le contenue et la suite de l’entête sur le </a:t>
            </a:r>
            <a:r>
              <a:rPr lang="fr-FR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fr-FR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FWD Port&gt;</a:t>
            </a:r>
            <a:endParaRPr lang="fr-FR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3811012" y="5017643"/>
            <a:ext cx="5028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Couper l’entête à &lt;</a:t>
            </a:r>
            <a:r>
              <a:rPr lang="fr-FR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FWD Code&gt;,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faire suivre la partie 1 sur </a:t>
            </a:r>
            <a:r>
              <a:rPr lang="fr-FR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&lt;FWD Port&gt;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relancer la fonction sur la partie 2</a:t>
            </a:r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82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Algorithme d’auto-acheminement point-à-multipoint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à Rennes, le 16 Juin 2015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780" y="2065611"/>
            <a:ext cx="4722160" cy="40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7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2164</TotalTime>
  <Words>1989</Words>
  <Application>Microsoft Office PowerPoint</Application>
  <PresentationFormat>Affichage à l'écran (4:3)</PresentationFormat>
  <Paragraphs>362</Paragraphs>
  <Slides>42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3" baseType="lpstr">
      <vt:lpstr>Rétrospective</vt:lpstr>
      <vt:lpstr>Conception et étude des performances d’une solution auto-configurable pour les réseaux de transport du futur</vt:lpstr>
      <vt:lpstr>Sommaire</vt:lpstr>
      <vt:lpstr>Réseaux de transport et LOCARN Low Opex and Capex Architecture for Resilient Networks</vt:lpstr>
      <vt:lpstr>Réseaux de transport ?</vt:lpstr>
      <vt:lpstr>Critères opérateurs</vt:lpstr>
      <vt:lpstr>Quels besoins pour les réseaux de transport du futur ?</vt:lpstr>
      <vt:lpstr>L’architecture LOCARN</vt:lpstr>
      <vt:lpstr>Établissement de la connectivité sur un exemple</vt:lpstr>
      <vt:lpstr>Établissement de la connectivité sur un exemple</vt:lpstr>
      <vt:lpstr>Établissement de la connectivité sur un exemple</vt:lpstr>
      <vt:lpstr>Un routage opportuniste orienté vers les services</vt:lpstr>
      <vt:lpstr>LOCARN en tant que technologie de transport</vt:lpstr>
      <vt:lpstr>Présentation PowerPoint</vt:lpstr>
      <vt:lpstr>Étude des performances de LOCARN</vt:lpstr>
      <vt:lpstr>Performances et sur-débits en conditions « normales »</vt:lpstr>
      <vt:lpstr>Performances et sur-débits en conditions « normales »</vt:lpstr>
      <vt:lpstr>Performances et sur-débits en conditions « normales »</vt:lpstr>
      <vt:lpstr>Performances et sur-débits en conditions « normales »</vt:lpstr>
      <vt:lpstr>Performances et sur-débits en conditions « normales »</vt:lpstr>
      <vt:lpstr>Performances et sur-débits en conditions « normales »</vt:lpstr>
      <vt:lpstr>Performances et sur-débits en cas de rupture dans le réseau</vt:lpstr>
      <vt:lpstr>Performances et sur-débits en cas de rupture dans le réseau</vt:lpstr>
      <vt:lpstr>Performances et sur-débits en cas de rupture dans le réseau</vt:lpstr>
      <vt:lpstr>Performances et sur-débits en cas de rupture dans le réseau</vt:lpstr>
      <vt:lpstr>Performances et sur-débits en cas de rupture dans le réseau</vt:lpstr>
      <vt:lpstr>Performances et sur-débits en cas de rupture dans le réseau</vt:lpstr>
      <vt:lpstr>Amélioration de la mise à l’échelle</vt:lpstr>
      <vt:lpstr>Motivations</vt:lpstr>
      <vt:lpstr>Amélioration 1</vt:lpstr>
      <vt:lpstr>Amélioration 2</vt:lpstr>
      <vt:lpstr>Amélioration 2</vt:lpstr>
      <vt:lpstr>Conclusions et perspectives</vt:lpstr>
      <vt:lpstr>Conclusions</vt:lpstr>
      <vt:lpstr>Perspectives</vt:lpstr>
      <vt:lpstr>Présentation PowerPoint</vt:lpstr>
      <vt:lpstr>Présentation PowerPoint</vt:lpstr>
      <vt:lpstr>Publications</vt:lpstr>
      <vt:lpstr>Positionnement</vt:lpstr>
      <vt:lpstr>LOCARN et (G)MPLS</vt:lpstr>
      <vt:lpstr>Application numérique sur des profils topologiques diverses</vt:lpstr>
      <vt:lpstr>Amélioration 2</vt:lpstr>
      <vt:lpstr>Algorithme d’auto-acheminement point-à-multipoint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Etude des Performances d’une Solution Auto-Configurable pour les Réseaux de Transport du Futur</dc:title>
  <dc:creator>Damien Le Quéré</dc:creator>
  <cp:lastModifiedBy>yhadjadj</cp:lastModifiedBy>
  <cp:revision>330</cp:revision>
  <dcterms:created xsi:type="dcterms:W3CDTF">2015-06-02T09:55:45Z</dcterms:created>
  <dcterms:modified xsi:type="dcterms:W3CDTF">2015-06-16T11:22:53Z</dcterms:modified>
</cp:coreProperties>
</file>